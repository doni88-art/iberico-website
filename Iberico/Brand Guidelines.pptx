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10287000" cx="18288000"/>
  <p:notesSz cx="6858000" cy="9144000"/>
  <p:embeddedFontLst>
    <p:embeddedFont>
      <p:font typeface="DM Serif Display"/>
      <p:regular r:id="rId22"/>
      <p:italic r:id="rId23"/>
    </p:embeddedFont>
    <p:embeddedFont>
      <p:font typeface="Open Sans Light"/>
      <p:regular r:id="rId24"/>
      <p:bold r:id="rId25"/>
      <p:italic r:id="rId26"/>
      <p:boldItalic r:id="rId27"/>
    </p:embeddedFont>
    <p:embeddedFont>
      <p:font typeface="Open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2" roundtripDataSignature="AMtx7mh1h7RvTTrSPK6AA+BRFxnP8xV7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DMSerifDisplay-regular.fntdata"/><Relationship Id="rId21" Type="http://schemas.openxmlformats.org/officeDocument/2006/relationships/slide" Target="slides/slide16.xml"/><Relationship Id="rId24" Type="http://schemas.openxmlformats.org/officeDocument/2006/relationships/font" Target="fonts/OpenSansLight-regular.fntdata"/><Relationship Id="rId23" Type="http://schemas.openxmlformats.org/officeDocument/2006/relationships/font" Target="fonts/DMSerifDispl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Light-italic.fntdata"/><Relationship Id="rId25" Type="http://schemas.openxmlformats.org/officeDocument/2006/relationships/font" Target="fonts/OpenSansLight-bold.fntdata"/><Relationship Id="rId28" Type="http://schemas.openxmlformats.org/officeDocument/2006/relationships/font" Target="fonts/OpenSans-regular.fntdata"/><Relationship Id="rId27" Type="http://schemas.openxmlformats.org/officeDocument/2006/relationships/font" Target="fonts/OpenSansLigh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Italic.fntdata"/><Relationship Id="rId3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1792288" y="612775"/>
            <a:ext cx="5486400" cy="4114800"/>
          </a:xfrm>
          <a:prstGeom prst="rect">
            <a:avLst/>
          </a:prstGeom>
          <a:noFill/>
          <a:ln>
            <a:noFill/>
          </a:ln>
        </p:spPr>
      </p:sp>
      <p:sp>
        <p:nvSpPr>
          <p:cNvPr id="64" name="Google Shape;64;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5.png"/><Relationship Id="rId7"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1028700" y="2952311"/>
            <a:ext cx="13683300" cy="4530000"/>
          </a:xfrm>
          <a:prstGeom prst="rect">
            <a:avLst/>
          </a:prstGeom>
          <a:noFill/>
          <a:ln>
            <a:noFill/>
          </a:ln>
        </p:spPr>
        <p:txBody>
          <a:bodyPr anchorCtr="0" anchor="t" bIns="0" lIns="0" spcFirstLastPara="1" rIns="0" wrap="square" tIns="0">
            <a:spAutoFit/>
          </a:bodyPr>
          <a:lstStyle/>
          <a:p>
            <a:pPr indent="0" lvl="0" marL="0" marR="0" rtl="0" algn="l">
              <a:lnSpc>
                <a:spcPct val="93000"/>
              </a:lnSpc>
              <a:spcBef>
                <a:spcPts val="0"/>
              </a:spcBef>
              <a:spcAft>
                <a:spcPts val="0"/>
              </a:spcAft>
              <a:buNone/>
            </a:pPr>
            <a:r>
              <a:rPr b="0" i="0" lang="en-US" sz="18500" u="none" cap="none" strike="noStrike">
                <a:solidFill>
                  <a:srgbClr val="000000"/>
                </a:solidFill>
                <a:latin typeface="DM Serif Display"/>
                <a:ea typeface="DM Serif Display"/>
                <a:cs typeface="DM Serif Display"/>
                <a:sym typeface="DM Serif Display"/>
              </a:rPr>
              <a:t>Brand </a:t>
            </a:r>
            <a:r>
              <a:rPr b="0" i="0" lang="en-US" sz="18500" u="none" cap="none" strike="noStrike">
                <a:solidFill>
                  <a:srgbClr val="000000"/>
                </a:solidFill>
                <a:latin typeface="DM Serif Display"/>
                <a:ea typeface="DM Serif Display"/>
                <a:cs typeface="DM Serif Display"/>
                <a:sym typeface="DM Serif Display"/>
              </a:rPr>
              <a:t>Guidelines</a:t>
            </a:r>
            <a:endParaRPr/>
          </a:p>
        </p:txBody>
      </p:sp>
      <p:sp>
        <p:nvSpPr>
          <p:cNvPr id="85" name="Google Shape;85;p1"/>
          <p:cNvSpPr txBox="1"/>
          <p:nvPr/>
        </p:nvSpPr>
        <p:spPr>
          <a:xfrm>
            <a:off x="1277945" y="7271740"/>
            <a:ext cx="13683384" cy="551139"/>
          </a:xfrm>
          <a:prstGeom prst="rect">
            <a:avLst/>
          </a:prstGeom>
          <a:noFill/>
          <a:ln>
            <a:noFill/>
          </a:ln>
        </p:spPr>
        <p:txBody>
          <a:bodyPr anchorCtr="0" anchor="t" bIns="0" lIns="0" spcFirstLastPara="1" rIns="0" wrap="square" tIns="0">
            <a:spAutoFit/>
          </a:bodyPr>
          <a:lstStyle/>
          <a:p>
            <a:pPr indent="0" lvl="0" marL="0" marR="0" rtl="0" algn="l">
              <a:lnSpc>
                <a:spcPct val="253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1028700" y="8669021"/>
            <a:ext cx="13683384" cy="37092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2014" u="none" cap="none" strike="noStrike">
                <a:solidFill>
                  <a:srgbClr val="000000"/>
                </a:solidFill>
                <a:latin typeface="Open Sans"/>
                <a:ea typeface="Open Sans"/>
                <a:cs typeface="Open Sans"/>
                <a:sym typeface="Open Sans"/>
              </a:rPr>
              <a:t>IBERICO RESTAURANT </a:t>
            </a:r>
            <a:endParaRPr/>
          </a:p>
        </p:txBody>
      </p:sp>
      <p:sp>
        <p:nvSpPr>
          <p:cNvPr id="87" name="Google Shape;87;p1"/>
          <p:cNvSpPr txBox="1"/>
          <p:nvPr/>
        </p:nvSpPr>
        <p:spPr>
          <a:xfrm>
            <a:off x="1028700" y="1194412"/>
            <a:ext cx="13683384"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F&amp;B </a:t>
            </a:r>
            <a:endParaRPr/>
          </a:p>
        </p:txBody>
      </p:sp>
      <p:cxnSp>
        <p:nvCxnSpPr>
          <p:cNvPr id="88" name="Google Shape;88;p1"/>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89" name="Google Shape;89;p1"/>
          <p:cNvCxnSpPr/>
          <p:nvPr/>
        </p:nvCxnSpPr>
        <p:spPr>
          <a:xfrm>
            <a:off x="1028700" y="8534804"/>
            <a:ext cx="16117883" cy="0"/>
          </a:xfrm>
          <a:prstGeom prst="straightConnector1">
            <a:avLst/>
          </a:prstGeom>
          <a:noFill/>
          <a:ln cap="rnd" cmpd="sng" w="9525">
            <a:solidFill>
              <a:srgbClr val="000000"/>
            </a:solidFill>
            <a:prstDash val="solid"/>
            <a:round/>
            <a:headEnd len="sm" w="sm" type="none"/>
            <a:tailEnd len="sm" w="sm" type="none"/>
          </a:ln>
        </p:spPr>
      </p:cxnSp>
      <p:cxnSp>
        <p:nvCxnSpPr>
          <p:cNvPr id="90" name="Google Shape;90;p1"/>
          <p:cNvCxnSpPr/>
          <p:nvPr/>
        </p:nvCxnSpPr>
        <p:spPr>
          <a:xfrm>
            <a:off x="1028700" y="9258300"/>
            <a:ext cx="16117883" cy="0"/>
          </a:xfrm>
          <a:prstGeom prst="straightConnector1">
            <a:avLst/>
          </a:prstGeom>
          <a:noFill/>
          <a:ln cap="rnd" cmpd="sng" w="9525">
            <a:solidFill>
              <a:srgbClr val="000000"/>
            </a:solidFill>
            <a:prstDash val="solid"/>
            <a:round/>
            <a:headEnd len="sm" w="sm" type="none"/>
            <a:tailEnd len="sm" w="sm" type="none"/>
          </a:ln>
        </p:spPr>
      </p:cxnSp>
      <p:cxnSp>
        <p:nvCxnSpPr>
          <p:cNvPr id="91" name="Google Shape;91;p1"/>
          <p:cNvCxnSpPr/>
          <p:nvPr/>
        </p:nvCxnSpPr>
        <p:spPr>
          <a:xfrm>
            <a:off x="1028700" y="1829580"/>
            <a:ext cx="16117883" cy="0"/>
          </a:xfrm>
          <a:prstGeom prst="straightConnector1">
            <a:avLst/>
          </a:prstGeom>
          <a:noFill/>
          <a:ln cap="rnd" cmpd="sng" w="9525">
            <a:solidFill>
              <a:srgbClr val="000000"/>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nvSpPr>
        <p:spPr>
          <a:xfrm>
            <a:off x="1028700" y="1229347"/>
            <a:ext cx="11515178" cy="1054989"/>
          </a:xfrm>
          <a:prstGeom prst="rect">
            <a:avLst/>
          </a:prstGeom>
          <a:noFill/>
          <a:ln>
            <a:noFill/>
          </a:ln>
        </p:spPr>
        <p:txBody>
          <a:bodyPr anchorCtr="0" anchor="t" bIns="0" lIns="0" spcFirstLastPara="1" rIns="0" wrap="square" tIns="0">
            <a:spAutoFit/>
          </a:bodyPr>
          <a:lstStyle/>
          <a:p>
            <a:pPr indent="0" lvl="0" marL="0" marR="0" rtl="0" algn="l">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What is Iberico?</a:t>
            </a:r>
            <a:endParaRPr/>
          </a:p>
        </p:txBody>
      </p:sp>
      <p:sp>
        <p:nvSpPr>
          <p:cNvPr id="97" name="Google Shape;97;p2"/>
          <p:cNvSpPr txBox="1"/>
          <p:nvPr/>
        </p:nvSpPr>
        <p:spPr>
          <a:xfrm>
            <a:off x="1028700" y="2632092"/>
            <a:ext cx="11515178" cy="6391910"/>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b="0" i="0" lang="en-US" sz="2599" u="none" cap="none" strike="noStrike">
                <a:solidFill>
                  <a:srgbClr val="000000"/>
                </a:solidFill>
                <a:latin typeface="Open Sans Light"/>
                <a:ea typeface="Open Sans Light"/>
                <a:cs typeface="Open Sans Light"/>
                <a:sym typeface="Open Sans Light"/>
              </a:rPr>
              <a:t>We are IBERICO!</a:t>
            </a:r>
            <a:endParaRPr/>
          </a:p>
          <a:p>
            <a:pPr indent="0" lvl="0" marL="0" marR="0" rtl="0" algn="l">
              <a:lnSpc>
                <a:spcPct val="140015"/>
              </a:lnSpc>
              <a:spcBef>
                <a:spcPts val="0"/>
              </a:spcBef>
              <a:spcAft>
                <a:spcPts val="0"/>
              </a:spcAft>
              <a:buNone/>
            </a:pPr>
            <a:r>
              <a:rPr b="0" i="0" lang="en-US" sz="2599" u="none" cap="none" strike="noStrike">
                <a:solidFill>
                  <a:srgbClr val="000000"/>
                </a:solidFill>
                <a:latin typeface="Open Sans Light"/>
                <a:ea typeface="Open Sans Light"/>
                <a:cs typeface="Open Sans Light"/>
                <a:sym typeface="Open Sans Light"/>
              </a:rPr>
              <a:t>IBERICO was founded in 2021 and rapidly expanded to two branches in Ho Chi Minh City. After three years, we opened a new branch in Hoi An in May 2024. </a:t>
            </a:r>
            <a:endParaRPr/>
          </a:p>
          <a:p>
            <a:pPr indent="0" lvl="0" marL="0" marR="0" rtl="0" algn="l">
              <a:lnSpc>
                <a:spcPct val="140015"/>
              </a:lnSpc>
              <a:spcBef>
                <a:spcPts val="0"/>
              </a:spcBef>
              <a:spcAft>
                <a:spcPts val="0"/>
              </a:spcAft>
              <a:buNone/>
            </a:pPr>
            <a:r>
              <a:rPr b="0" i="0" lang="en-US" sz="2599" u="none" cap="none" strike="noStrike">
                <a:solidFill>
                  <a:srgbClr val="000000"/>
                </a:solidFill>
                <a:latin typeface="Open Sans Light"/>
                <a:ea typeface="Open Sans Light"/>
                <a:cs typeface="Open Sans Light"/>
                <a:sym typeface="Open Sans Light"/>
              </a:rPr>
              <a:t>Our bar and restaurant offer Spanish cuisine and wine. We pride ourselves on being creative, warm, and delicious.</a:t>
            </a:r>
            <a:endParaRPr/>
          </a:p>
          <a:p>
            <a:pPr indent="0" lvl="0" marL="0" marR="0" rtl="0" algn="l">
              <a:lnSpc>
                <a:spcPct val="140015"/>
              </a:lnSpc>
              <a:spcBef>
                <a:spcPts val="0"/>
              </a:spcBef>
              <a:spcAft>
                <a:spcPts val="0"/>
              </a:spcAft>
              <a:buNone/>
            </a:pPr>
            <a:r>
              <a:rPr b="0" i="0" lang="en-US" sz="2599" u="none" cap="none" strike="noStrike">
                <a:solidFill>
                  <a:srgbClr val="000000"/>
                </a:solidFill>
                <a:latin typeface="Open Sans Light"/>
                <a:ea typeface="Open Sans Light"/>
                <a:cs typeface="Open Sans Light"/>
                <a:sym typeface="Open Sans Light"/>
              </a:rPr>
              <a:t>Unique culinary rendezvous from Spain</a:t>
            </a:r>
            <a:endParaRPr/>
          </a:p>
          <a:p>
            <a:pPr indent="0" lvl="0" marL="0" marR="0" rtl="0" algn="l">
              <a:lnSpc>
                <a:spcPct val="140015"/>
              </a:lnSpc>
              <a:spcBef>
                <a:spcPts val="0"/>
              </a:spcBef>
              <a:spcAft>
                <a:spcPts val="0"/>
              </a:spcAft>
              <a:buNone/>
            </a:pPr>
            <a:r>
              <a:rPr b="0" i="0" lang="en-US" sz="2599" u="none" cap="none" strike="noStrike">
                <a:solidFill>
                  <a:srgbClr val="000000"/>
                </a:solidFill>
                <a:latin typeface="Open Sans Light"/>
                <a:ea typeface="Open Sans Light"/>
                <a:cs typeface="Open Sans Light"/>
                <a:sym typeface="Open Sans Light"/>
              </a:rPr>
              <a:t>The music, atmosphere, staff, and especially the culinary quintessence at Iberico will take you through the air to Spain with exquisite and perfect experiences not found everywhere.</a:t>
            </a:r>
            <a:endParaRPr/>
          </a:p>
          <a:p>
            <a:pPr indent="0" lvl="0" marL="0" marR="0" rtl="0" algn="l">
              <a:lnSpc>
                <a:spcPct val="140015"/>
              </a:lnSpc>
              <a:spcBef>
                <a:spcPts val="0"/>
              </a:spcBef>
              <a:spcAft>
                <a:spcPts val="0"/>
              </a:spcAft>
              <a:buNone/>
            </a:pPr>
            <a:r>
              <a:rPr b="0" i="0" lang="en-US" sz="2599" u="none" cap="none" strike="noStrike">
                <a:solidFill>
                  <a:srgbClr val="000000"/>
                </a:solidFill>
                <a:latin typeface="Open Sans Light"/>
                <a:ea typeface="Open Sans Light"/>
                <a:cs typeface="Open Sans Light"/>
                <a:sym typeface="Open Sans Light"/>
              </a:rPr>
              <a:t>Iberico is proud to offer one-of-a-kind and valuable Spanish culinary experiences. It is the ideal rendezvous for you. Book a table to discover now, friends!</a:t>
            </a:r>
            <a:endParaRPr/>
          </a:p>
          <a:p>
            <a:pPr indent="0" lvl="0" marL="0" marR="0" rtl="0" algn="l">
              <a:lnSpc>
                <a:spcPct val="140015"/>
              </a:lnSpc>
              <a:spcBef>
                <a:spcPts val="0"/>
              </a:spcBef>
              <a:spcAft>
                <a:spcPts val="0"/>
              </a:spcAft>
              <a:buNone/>
            </a:pPr>
            <a:r>
              <a:t/>
            </a:r>
            <a:endParaRPr b="0" i="0" sz="2599" u="none" cap="none" strike="noStrike">
              <a:solidFill>
                <a:srgbClr val="000000"/>
              </a:solidFill>
              <a:latin typeface="Open Sans Light"/>
              <a:ea typeface="Open Sans Light"/>
              <a:cs typeface="Open Sans Light"/>
              <a:sym typeface="Open Sans Light"/>
            </a:endParaRPr>
          </a:p>
        </p:txBody>
      </p:sp>
      <p:sp>
        <p:nvSpPr>
          <p:cNvPr id="98" name="Google Shape;98;p2"/>
          <p:cNvSpPr/>
          <p:nvPr/>
        </p:nvSpPr>
        <p:spPr>
          <a:xfrm rot="-5400000">
            <a:off x="10815407" y="2814407"/>
            <a:ext cx="10287000" cy="4658186"/>
          </a:xfrm>
          <a:prstGeom prst="rect">
            <a:avLst/>
          </a:prstGeom>
          <a:solidFill>
            <a:srgbClr val="EDEC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 name="Google Shape;99;p2"/>
          <p:cNvCxnSpPr/>
          <p:nvPr/>
        </p:nvCxnSpPr>
        <p:spPr>
          <a:xfrm>
            <a:off x="1028700" y="2289099"/>
            <a:ext cx="11515178" cy="0"/>
          </a:xfrm>
          <a:prstGeom prst="straightConnector1">
            <a:avLst/>
          </a:prstGeom>
          <a:noFill/>
          <a:ln cap="rnd" cmpd="sng" w="9525">
            <a:solidFill>
              <a:srgbClr val="000000"/>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nvSpPr>
        <p:spPr>
          <a:xfrm>
            <a:off x="5029991" y="1230056"/>
            <a:ext cx="8115300" cy="1054989"/>
          </a:xfrm>
          <a:prstGeom prst="rect">
            <a:avLst/>
          </a:prstGeom>
          <a:noFill/>
          <a:ln>
            <a:noFill/>
          </a:ln>
        </p:spPr>
        <p:txBody>
          <a:bodyPr anchorCtr="0" anchor="t" bIns="0" lIns="0" spcFirstLastPara="1" rIns="0" wrap="square" tIns="0">
            <a:spAutoFit/>
          </a:bodyPr>
          <a:lstStyle/>
          <a:p>
            <a:pPr indent="0" lvl="0" marL="0" marR="0" rtl="0" algn="ctr">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Branches</a:t>
            </a:r>
            <a:endParaRPr/>
          </a:p>
        </p:txBody>
      </p:sp>
      <p:cxnSp>
        <p:nvCxnSpPr>
          <p:cNvPr id="105" name="Google Shape;105;p3"/>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cxnSp>
        <p:nvCxnSpPr>
          <p:cNvPr id="106" name="Google Shape;106;p3"/>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107" name="Google Shape;107;p3"/>
          <p:cNvCxnSpPr/>
          <p:nvPr/>
        </p:nvCxnSpPr>
        <p:spPr>
          <a:xfrm rot="-5400000">
            <a:off x="12373409" y="1724213"/>
            <a:ext cx="1400551" cy="0"/>
          </a:xfrm>
          <a:prstGeom prst="straightConnector1">
            <a:avLst/>
          </a:prstGeom>
          <a:noFill/>
          <a:ln cap="rnd" cmpd="sng" w="9525">
            <a:solidFill>
              <a:srgbClr val="000000"/>
            </a:solidFill>
            <a:prstDash val="solid"/>
            <a:round/>
            <a:headEnd len="sm" w="sm" type="none"/>
            <a:tailEnd len="sm" w="sm" type="none"/>
          </a:ln>
        </p:spPr>
      </p:cxnSp>
      <p:cxnSp>
        <p:nvCxnSpPr>
          <p:cNvPr id="108" name="Google Shape;108;p3"/>
          <p:cNvCxnSpPr/>
          <p:nvPr/>
        </p:nvCxnSpPr>
        <p:spPr>
          <a:xfrm rot="-5400000">
            <a:off x="4390837" y="1733738"/>
            <a:ext cx="1400551" cy="0"/>
          </a:xfrm>
          <a:prstGeom prst="straightConnector1">
            <a:avLst/>
          </a:prstGeom>
          <a:noFill/>
          <a:ln cap="rnd" cmpd="sng" w="9525">
            <a:solidFill>
              <a:srgbClr val="000000"/>
            </a:solidFill>
            <a:prstDash val="solid"/>
            <a:round/>
            <a:headEnd len="sm" w="sm" type="none"/>
            <a:tailEnd len="sm" w="sm" type="none"/>
          </a:ln>
        </p:spPr>
      </p:cxnSp>
      <p:cxnSp>
        <p:nvCxnSpPr>
          <p:cNvPr id="109" name="Google Shape;109;p3"/>
          <p:cNvCxnSpPr/>
          <p:nvPr/>
        </p:nvCxnSpPr>
        <p:spPr>
          <a:xfrm>
            <a:off x="1085059" y="9921946"/>
            <a:ext cx="16117883" cy="0"/>
          </a:xfrm>
          <a:prstGeom prst="straightConnector1">
            <a:avLst/>
          </a:prstGeom>
          <a:noFill/>
          <a:ln cap="rnd" cmpd="sng" w="9525">
            <a:solidFill>
              <a:srgbClr val="000000"/>
            </a:solidFill>
            <a:prstDash val="solid"/>
            <a:round/>
            <a:headEnd len="sm" w="sm" type="none"/>
            <a:tailEnd len="sm" w="sm" type="none"/>
          </a:ln>
        </p:spPr>
      </p:cxnSp>
      <p:sp>
        <p:nvSpPr>
          <p:cNvPr id="110" name="Google Shape;110;p3"/>
          <p:cNvSpPr/>
          <p:nvPr/>
        </p:nvSpPr>
        <p:spPr>
          <a:xfrm>
            <a:off x="10217716" y="3482525"/>
            <a:ext cx="7041584" cy="5237178"/>
          </a:xfrm>
          <a:custGeom>
            <a:rect b="b" l="l" r="r" t="t"/>
            <a:pathLst>
              <a:path extrusionOk="0" h="5237178" w="7041584">
                <a:moveTo>
                  <a:pt x="0" y="0"/>
                </a:moveTo>
                <a:lnTo>
                  <a:pt x="7041584" y="0"/>
                </a:lnTo>
                <a:lnTo>
                  <a:pt x="7041584" y="5237178"/>
                </a:lnTo>
                <a:lnTo>
                  <a:pt x="0" y="5237178"/>
                </a:lnTo>
                <a:lnTo>
                  <a:pt x="0" y="0"/>
                </a:lnTo>
                <a:close/>
              </a:path>
            </a:pathLst>
          </a:custGeom>
          <a:blipFill rotWithShape="1">
            <a:blip r:embed="rId3">
              <a:alphaModFix/>
            </a:blip>
            <a:stretch>
              <a:fillRect b="0" l="0" r="0" t="0"/>
            </a:stretch>
          </a:blipFill>
          <a:ln>
            <a:noFill/>
          </a:ln>
        </p:spPr>
      </p:sp>
      <p:sp>
        <p:nvSpPr>
          <p:cNvPr id="111" name="Google Shape;111;p3"/>
          <p:cNvSpPr txBox="1"/>
          <p:nvPr/>
        </p:nvSpPr>
        <p:spPr>
          <a:xfrm>
            <a:off x="1085059" y="2828445"/>
            <a:ext cx="8864243" cy="5068570"/>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000000"/>
              </a:buClr>
              <a:buSzPts val="2199"/>
              <a:buFont typeface="Arial"/>
              <a:buChar char="•"/>
            </a:pPr>
            <a:r>
              <a:rPr b="1" i="0" lang="en-US" sz="2199" u="none" cap="none" strike="noStrike">
                <a:solidFill>
                  <a:srgbClr val="000000"/>
                </a:solidFill>
                <a:latin typeface="Open Sans"/>
                <a:ea typeface="Open Sans"/>
                <a:cs typeface="Open Sans"/>
                <a:sym typeface="Open Sans"/>
              </a:rPr>
              <a:t>Location</a:t>
            </a:r>
            <a:r>
              <a:rPr b="0" i="0" lang="en-US" sz="2199" u="none" cap="none" strike="noStrike">
                <a:solidFill>
                  <a:srgbClr val="000000"/>
                </a:solidFill>
                <a:latin typeface="Open Sans"/>
                <a:ea typeface="Open Sans"/>
                <a:cs typeface="Open Sans"/>
                <a:sym typeface="Open Sans"/>
              </a:rPr>
              <a:t>: Thao Dien </a:t>
            </a:r>
            <a:endParaRPr/>
          </a:p>
          <a:p>
            <a:pPr indent="-237490" lvl="1" marL="474979" marR="0" rtl="0" algn="l">
              <a:lnSpc>
                <a:spcPct val="140018"/>
              </a:lnSpc>
              <a:spcBef>
                <a:spcPts val="0"/>
              </a:spcBef>
              <a:spcAft>
                <a:spcPts val="0"/>
              </a:spcAft>
              <a:buClr>
                <a:srgbClr val="000000"/>
              </a:buClr>
              <a:buSzPts val="2199"/>
              <a:buFont typeface="Arial"/>
              <a:buChar char="•"/>
            </a:pPr>
            <a:r>
              <a:rPr b="1" i="0" lang="en-US" sz="2199" u="none" cap="none" strike="noStrike">
                <a:solidFill>
                  <a:srgbClr val="000000"/>
                </a:solidFill>
                <a:latin typeface="Open Sans"/>
                <a:ea typeface="Open Sans"/>
                <a:cs typeface="Open Sans"/>
                <a:sym typeface="Open Sans"/>
              </a:rPr>
              <a:t>Opening Hours: </a:t>
            </a:r>
            <a:r>
              <a:rPr b="0" i="0" lang="en-US" sz="2199" u="none" cap="none" strike="noStrike">
                <a:solidFill>
                  <a:srgbClr val="000000"/>
                </a:solidFill>
                <a:latin typeface="Open Sans"/>
                <a:ea typeface="Open Sans"/>
                <a:cs typeface="Open Sans"/>
                <a:sym typeface="Open Sans"/>
              </a:rPr>
              <a:t>11:30 - 23:30</a:t>
            </a:r>
            <a:endParaRPr/>
          </a:p>
          <a:p>
            <a:pPr indent="-237490" lvl="1" marL="474979" marR="0" rtl="0" algn="l">
              <a:lnSpc>
                <a:spcPct val="140018"/>
              </a:lnSpc>
              <a:spcBef>
                <a:spcPts val="0"/>
              </a:spcBef>
              <a:spcAft>
                <a:spcPts val="0"/>
              </a:spcAft>
              <a:buClr>
                <a:srgbClr val="000000"/>
              </a:buClr>
              <a:buSzPts val="2199"/>
              <a:buFont typeface="Arial"/>
              <a:buChar char="•"/>
            </a:pPr>
            <a:r>
              <a:rPr b="1" i="0" lang="en-US" sz="2199" u="none" cap="none" strike="noStrike">
                <a:solidFill>
                  <a:srgbClr val="000000"/>
                </a:solidFill>
                <a:latin typeface="Open Sans"/>
                <a:ea typeface="Open Sans"/>
                <a:cs typeface="Open Sans"/>
                <a:sym typeface="Open Sans"/>
              </a:rPr>
              <a:t>Capacity:</a:t>
            </a:r>
            <a:r>
              <a:rPr b="0" i="0" lang="en-US" sz="2199" u="none" cap="none" strike="noStrike">
                <a:solidFill>
                  <a:srgbClr val="000000"/>
                </a:solidFill>
                <a:latin typeface="Open Sans"/>
                <a:ea typeface="Open Sans"/>
                <a:cs typeface="Open Sans"/>
                <a:sym typeface="Open Sans"/>
              </a:rPr>
              <a:t> 60 pax</a:t>
            </a:r>
            <a:endParaRPr/>
          </a:p>
          <a:p>
            <a:pPr indent="0" lvl="0" marL="0" marR="0" rtl="0" algn="l">
              <a:lnSpc>
                <a:spcPct val="140018"/>
              </a:lnSpc>
              <a:spcBef>
                <a:spcPts val="0"/>
              </a:spcBef>
              <a:spcAft>
                <a:spcPts val="0"/>
              </a:spcAft>
              <a:buNone/>
            </a:pPr>
            <a:r>
              <a:t/>
            </a:r>
            <a:endParaRPr b="0" i="0" sz="2199" u="none" cap="none" strike="noStrike">
              <a:solidFill>
                <a:srgbClr val="000000"/>
              </a:solidFill>
              <a:latin typeface="Open Sans"/>
              <a:ea typeface="Open Sans"/>
              <a:cs typeface="Open Sans"/>
              <a:sym typeface="Open Sans"/>
            </a:endParaRPr>
          </a:p>
          <a:p>
            <a:pPr indent="-248284" lvl="1" marL="496569" marR="0" rtl="0" algn="l">
              <a:lnSpc>
                <a:spcPct val="140017"/>
              </a:lnSpc>
              <a:spcBef>
                <a:spcPts val="0"/>
              </a:spcBef>
              <a:spcAft>
                <a:spcPts val="0"/>
              </a:spcAft>
              <a:buClr>
                <a:srgbClr val="000000"/>
              </a:buClr>
              <a:buSzPts val="2299"/>
              <a:buFont typeface="Arial"/>
              <a:buChar char="•"/>
            </a:pPr>
            <a:r>
              <a:rPr b="1" i="0" lang="en-US" sz="2299" u="none" cap="none" strike="noStrike">
                <a:solidFill>
                  <a:srgbClr val="000000"/>
                </a:solidFill>
                <a:latin typeface="Open Sans"/>
                <a:ea typeface="Open Sans"/>
                <a:cs typeface="Open Sans"/>
                <a:sym typeface="Open Sans"/>
              </a:rPr>
              <a:t>Ambience and Atmosphere: </a:t>
            </a:r>
            <a:endParaRPr/>
          </a:p>
          <a:p>
            <a:pPr indent="0" lvl="0" marL="0" marR="0" rtl="0" algn="l">
              <a:lnSpc>
                <a:spcPct val="140018"/>
              </a:lnSpc>
              <a:spcBef>
                <a:spcPts val="0"/>
              </a:spcBef>
              <a:spcAft>
                <a:spcPts val="0"/>
              </a:spcAft>
              <a:buNone/>
            </a:pPr>
            <a:r>
              <a:rPr b="0" i="0" lang="en-US" sz="2199" u="none" cap="none" strike="noStrike">
                <a:solidFill>
                  <a:srgbClr val="000000"/>
                </a:solidFill>
                <a:latin typeface="Open Sans"/>
                <a:ea typeface="Open Sans"/>
                <a:cs typeface="Open Sans"/>
                <a:sym typeface="Open Sans"/>
              </a:rPr>
              <a:t>Nestled in a residential neighborhood popular with expats, our restaurant offers a warm and welcoming atmosphere. Whether you're dining with friends, family, or a special someone, our indoor and outdoor seating options cater to every occasion.</a:t>
            </a:r>
            <a:endParaRPr/>
          </a:p>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Open Sans"/>
                <a:ea typeface="Open Sans"/>
                <a:cs typeface="Open Sans"/>
                <a:sym typeface="Open Sans"/>
              </a:rPr>
              <a:t>Gần khu dân cư, khu expat sinh sống. Khách chủ yếu là người sinh sống ở khu vực đó. Không gian trong nhà và ngoài trời, phù hợp cho cả nhóm khách lớn, gia đình, bạn bè, lẫn cho khách đôi, hẹn hò lãng mạn.</a:t>
            </a:r>
            <a:endParaRPr/>
          </a:p>
        </p:txBody>
      </p:sp>
      <p:sp>
        <p:nvSpPr>
          <p:cNvPr id="112" name="Google Shape;112;p3"/>
          <p:cNvSpPr txBox="1"/>
          <p:nvPr/>
        </p:nvSpPr>
        <p:spPr>
          <a:xfrm>
            <a:off x="16108966" y="1234819"/>
            <a:ext cx="1037617" cy="1054989"/>
          </a:xfrm>
          <a:prstGeom prst="rect">
            <a:avLst/>
          </a:prstGeom>
          <a:noFill/>
          <a:ln>
            <a:noFill/>
          </a:ln>
        </p:spPr>
        <p:txBody>
          <a:bodyPr anchorCtr="0" anchor="t" bIns="0" lIns="0" spcFirstLastPara="1" rIns="0" wrap="square" tIns="0">
            <a:spAutoFit/>
          </a:bodyPr>
          <a:lstStyle/>
          <a:p>
            <a:pPr indent="0" lvl="0" marL="0" marR="0" rtl="0" algn="ctr">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nvSpPr>
        <p:spPr>
          <a:xfrm>
            <a:off x="5029991" y="1230056"/>
            <a:ext cx="8115300" cy="1054989"/>
          </a:xfrm>
          <a:prstGeom prst="rect">
            <a:avLst/>
          </a:prstGeom>
          <a:noFill/>
          <a:ln>
            <a:noFill/>
          </a:ln>
        </p:spPr>
        <p:txBody>
          <a:bodyPr anchorCtr="0" anchor="t" bIns="0" lIns="0" spcFirstLastPara="1" rIns="0" wrap="square" tIns="0">
            <a:spAutoFit/>
          </a:bodyPr>
          <a:lstStyle/>
          <a:p>
            <a:pPr indent="0" lvl="0" marL="0" marR="0" rtl="0" algn="ctr">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Branches</a:t>
            </a:r>
            <a:endParaRPr/>
          </a:p>
        </p:txBody>
      </p:sp>
      <p:cxnSp>
        <p:nvCxnSpPr>
          <p:cNvPr id="118" name="Google Shape;118;p4"/>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cxnSp>
        <p:nvCxnSpPr>
          <p:cNvPr id="119" name="Google Shape;119;p4"/>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120" name="Google Shape;120;p4"/>
          <p:cNvCxnSpPr/>
          <p:nvPr/>
        </p:nvCxnSpPr>
        <p:spPr>
          <a:xfrm rot="-5400000">
            <a:off x="12373409" y="1724213"/>
            <a:ext cx="1400551" cy="0"/>
          </a:xfrm>
          <a:prstGeom prst="straightConnector1">
            <a:avLst/>
          </a:prstGeom>
          <a:noFill/>
          <a:ln cap="rnd" cmpd="sng" w="9525">
            <a:solidFill>
              <a:srgbClr val="000000"/>
            </a:solidFill>
            <a:prstDash val="solid"/>
            <a:round/>
            <a:headEnd len="sm" w="sm" type="none"/>
            <a:tailEnd len="sm" w="sm" type="none"/>
          </a:ln>
        </p:spPr>
      </p:cxnSp>
      <p:cxnSp>
        <p:nvCxnSpPr>
          <p:cNvPr id="121" name="Google Shape;121;p4"/>
          <p:cNvCxnSpPr/>
          <p:nvPr/>
        </p:nvCxnSpPr>
        <p:spPr>
          <a:xfrm rot="-5400000">
            <a:off x="4390837" y="1733738"/>
            <a:ext cx="1400551" cy="0"/>
          </a:xfrm>
          <a:prstGeom prst="straightConnector1">
            <a:avLst/>
          </a:prstGeom>
          <a:noFill/>
          <a:ln cap="rnd" cmpd="sng" w="9525">
            <a:solidFill>
              <a:srgbClr val="000000"/>
            </a:solidFill>
            <a:prstDash val="solid"/>
            <a:round/>
            <a:headEnd len="sm" w="sm" type="none"/>
            <a:tailEnd len="sm" w="sm" type="none"/>
          </a:ln>
        </p:spPr>
      </p:cxnSp>
      <p:cxnSp>
        <p:nvCxnSpPr>
          <p:cNvPr id="122" name="Google Shape;122;p4"/>
          <p:cNvCxnSpPr/>
          <p:nvPr/>
        </p:nvCxnSpPr>
        <p:spPr>
          <a:xfrm>
            <a:off x="1085059" y="9921946"/>
            <a:ext cx="16117883" cy="0"/>
          </a:xfrm>
          <a:prstGeom prst="straightConnector1">
            <a:avLst/>
          </a:prstGeom>
          <a:noFill/>
          <a:ln cap="rnd" cmpd="sng" w="9525">
            <a:solidFill>
              <a:srgbClr val="000000"/>
            </a:solidFill>
            <a:prstDash val="solid"/>
            <a:round/>
            <a:headEnd len="sm" w="sm" type="none"/>
            <a:tailEnd len="sm" w="sm" type="none"/>
          </a:ln>
        </p:spPr>
      </p:cxnSp>
      <p:sp>
        <p:nvSpPr>
          <p:cNvPr id="123" name="Google Shape;123;p4"/>
          <p:cNvSpPr/>
          <p:nvPr/>
        </p:nvSpPr>
        <p:spPr>
          <a:xfrm>
            <a:off x="12109730" y="2572126"/>
            <a:ext cx="3999235" cy="7109752"/>
          </a:xfrm>
          <a:custGeom>
            <a:rect b="b" l="l" r="r" t="t"/>
            <a:pathLst>
              <a:path extrusionOk="0" h="7109752" w="3999235">
                <a:moveTo>
                  <a:pt x="0" y="0"/>
                </a:moveTo>
                <a:lnTo>
                  <a:pt x="3999236" y="0"/>
                </a:lnTo>
                <a:lnTo>
                  <a:pt x="3999236" y="7109752"/>
                </a:lnTo>
                <a:lnTo>
                  <a:pt x="0" y="7109752"/>
                </a:lnTo>
                <a:lnTo>
                  <a:pt x="0" y="0"/>
                </a:lnTo>
                <a:close/>
              </a:path>
            </a:pathLst>
          </a:custGeom>
          <a:blipFill rotWithShape="1">
            <a:blip r:embed="rId3">
              <a:alphaModFix/>
            </a:blip>
            <a:stretch>
              <a:fillRect b="0" l="0" r="0" t="0"/>
            </a:stretch>
          </a:blipFill>
          <a:ln>
            <a:noFill/>
          </a:ln>
        </p:spPr>
      </p:sp>
      <p:sp>
        <p:nvSpPr>
          <p:cNvPr id="124" name="Google Shape;124;p4"/>
          <p:cNvSpPr txBox="1"/>
          <p:nvPr/>
        </p:nvSpPr>
        <p:spPr>
          <a:xfrm>
            <a:off x="1085059" y="2828445"/>
            <a:ext cx="10096993" cy="5068570"/>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000000"/>
              </a:buClr>
              <a:buSzPts val="2199"/>
              <a:buFont typeface="Arial"/>
              <a:buChar char="•"/>
            </a:pPr>
            <a:r>
              <a:rPr b="1" i="0" lang="en-US" sz="2199" u="none" cap="none" strike="noStrike">
                <a:solidFill>
                  <a:srgbClr val="000000"/>
                </a:solidFill>
                <a:latin typeface="Open Sans"/>
                <a:ea typeface="Open Sans"/>
                <a:cs typeface="Open Sans"/>
                <a:sym typeface="Open Sans"/>
              </a:rPr>
              <a:t>Location</a:t>
            </a:r>
            <a:r>
              <a:rPr b="0" i="0" lang="en-US" sz="2199" u="none" cap="none" strike="noStrike">
                <a:solidFill>
                  <a:srgbClr val="000000"/>
                </a:solidFill>
                <a:latin typeface="Open Sans"/>
                <a:ea typeface="Open Sans"/>
                <a:cs typeface="Open Sans"/>
                <a:sym typeface="Open Sans"/>
              </a:rPr>
              <a:t>: Thi Sách</a:t>
            </a:r>
            <a:endParaRPr/>
          </a:p>
          <a:p>
            <a:pPr indent="-237490" lvl="1" marL="474979" marR="0" rtl="0" algn="l">
              <a:lnSpc>
                <a:spcPct val="140018"/>
              </a:lnSpc>
              <a:spcBef>
                <a:spcPts val="0"/>
              </a:spcBef>
              <a:spcAft>
                <a:spcPts val="0"/>
              </a:spcAft>
              <a:buClr>
                <a:srgbClr val="000000"/>
              </a:buClr>
              <a:buSzPts val="2199"/>
              <a:buFont typeface="Arial"/>
              <a:buChar char="•"/>
            </a:pPr>
            <a:r>
              <a:rPr b="1" i="0" lang="en-US" sz="2199" u="none" cap="none" strike="noStrike">
                <a:solidFill>
                  <a:srgbClr val="000000"/>
                </a:solidFill>
                <a:latin typeface="Open Sans"/>
                <a:ea typeface="Open Sans"/>
                <a:cs typeface="Open Sans"/>
                <a:sym typeface="Open Sans"/>
              </a:rPr>
              <a:t>Opening Hours: </a:t>
            </a:r>
            <a:endParaRPr/>
          </a:p>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Open Sans"/>
                <a:ea typeface="Open Sans"/>
                <a:cs typeface="Open Sans"/>
                <a:sym typeface="Open Sans"/>
              </a:rPr>
              <a:t>Mon - Fri: 12:00 - 00:00</a:t>
            </a:r>
            <a:endParaRPr/>
          </a:p>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Open Sans"/>
                <a:ea typeface="Open Sans"/>
                <a:cs typeface="Open Sans"/>
                <a:sym typeface="Open Sans"/>
              </a:rPr>
              <a:t>Sat - Sun: 16:00 - 00:00</a:t>
            </a:r>
            <a:endParaRPr/>
          </a:p>
          <a:p>
            <a:pPr indent="-237490" lvl="1" marL="474979" marR="0" rtl="0" algn="l">
              <a:lnSpc>
                <a:spcPct val="140018"/>
              </a:lnSpc>
              <a:spcBef>
                <a:spcPts val="0"/>
              </a:spcBef>
              <a:spcAft>
                <a:spcPts val="0"/>
              </a:spcAft>
              <a:buClr>
                <a:srgbClr val="000000"/>
              </a:buClr>
              <a:buSzPts val="2199"/>
              <a:buFont typeface="Arial"/>
              <a:buChar char="•"/>
            </a:pPr>
            <a:r>
              <a:rPr b="1" i="0" lang="en-US" sz="2199" u="none" cap="none" strike="noStrike">
                <a:solidFill>
                  <a:srgbClr val="000000"/>
                </a:solidFill>
                <a:latin typeface="Open Sans"/>
                <a:ea typeface="Open Sans"/>
                <a:cs typeface="Open Sans"/>
                <a:sym typeface="Open Sans"/>
              </a:rPr>
              <a:t>Capacity:</a:t>
            </a:r>
            <a:r>
              <a:rPr b="0" i="0" lang="en-US" sz="2199" u="none" cap="none" strike="noStrike">
                <a:solidFill>
                  <a:srgbClr val="000000"/>
                </a:solidFill>
                <a:latin typeface="Open Sans"/>
                <a:ea typeface="Open Sans"/>
                <a:cs typeface="Open Sans"/>
                <a:sym typeface="Open Sans"/>
              </a:rPr>
              <a:t> 60 -80 pax</a:t>
            </a:r>
            <a:endParaRPr/>
          </a:p>
          <a:p>
            <a:pPr indent="0" lvl="0" marL="0" marR="0" rtl="0" algn="l">
              <a:lnSpc>
                <a:spcPct val="140018"/>
              </a:lnSpc>
              <a:spcBef>
                <a:spcPts val="0"/>
              </a:spcBef>
              <a:spcAft>
                <a:spcPts val="0"/>
              </a:spcAft>
              <a:buNone/>
            </a:pPr>
            <a:r>
              <a:t/>
            </a:r>
            <a:endParaRPr b="0" i="0" sz="2199" u="none" cap="none" strike="noStrike">
              <a:solidFill>
                <a:srgbClr val="000000"/>
              </a:solidFill>
              <a:latin typeface="Open Sans"/>
              <a:ea typeface="Open Sans"/>
              <a:cs typeface="Open Sans"/>
              <a:sym typeface="Open Sans"/>
            </a:endParaRPr>
          </a:p>
          <a:p>
            <a:pPr indent="-248284" lvl="1" marL="496569" marR="0" rtl="0" algn="l">
              <a:lnSpc>
                <a:spcPct val="140017"/>
              </a:lnSpc>
              <a:spcBef>
                <a:spcPts val="0"/>
              </a:spcBef>
              <a:spcAft>
                <a:spcPts val="0"/>
              </a:spcAft>
              <a:buClr>
                <a:srgbClr val="000000"/>
              </a:buClr>
              <a:buSzPts val="2299"/>
              <a:buFont typeface="Arial"/>
              <a:buChar char="•"/>
            </a:pPr>
            <a:r>
              <a:rPr b="1" i="0" lang="en-US" sz="2299" u="none" cap="none" strike="noStrike">
                <a:solidFill>
                  <a:srgbClr val="000000"/>
                </a:solidFill>
                <a:latin typeface="Open Sans"/>
                <a:ea typeface="Open Sans"/>
                <a:cs typeface="Open Sans"/>
                <a:sym typeface="Open Sans"/>
              </a:rPr>
              <a:t>Ambience and Atmosphere: </a:t>
            </a:r>
            <a:endParaRPr/>
          </a:p>
          <a:p>
            <a:pPr indent="0" lvl="0" marL="0" marR="0" rtl="0" algn="l">
              <a:lnSpc>
                <a:spcPct val="140018"/>
              </a:lnSpc>
              <a:spcBef>
                <a:spcPts val="0"/>
              </a:spcBef>
              <a:spcAft>
                <a:spcPts val="0"/>
              </a:spcAft>
              <a:buNone/>
            </a:pPr>
            <a:r>
              <a:rPr b="0" i="0" lang="en-US" sz="2199" u="none" cap="none" strike="noStrike">
                <a:solidFill>
                  <a:srgbClr val="000000"/>
                </a:solidFill>
                <a:latin typeface="Open Sans"/>
                <a:ea typeface="Open Sans"/>
                <a:cs typeface="Open Sans"/>
                <a:sym typeface="Open Sans"/>
              </a:rPr>
              <a:t>Conveniently located near business districts and popular tourist destinations, our restaurant is a popular choice of travelers. In this branch, we offers a private upstairs space, perfect for hosting exclusive events.</a:t>
            </a:r>
            <a:endParaRPr/>
          </a:p>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Open Sans"/>
                <a:ea typeface="Open Sans"/>
                <a:cs typeface="Open Sans"/>
                <a:sym typeface="Open Sans"/>
              </a:rPr>
              <a:t>Gần các cao ốc văn phòng, khách sạn, khu người Nhật. Khách chủ yếu là dân văn phòng, khách du lịch vãng lai. Khách Nhật chiếm tỉ lệ cao. Thường là nhóm khách văn phòng từ tầm trung trở lên.</a:t>
            </a:r>
            <a:endParaRPr/>
          </a:p>
        </p:txBody>
      </p:sp>
      <p:sp>
        <p:nvSpPr>
          <p:cNvPr id="125" name="Google Shape;125;p4"/>
          <p:cNvSpPr txBox="1"/>
          <p:nvPr/>
        </p:nvSpPr>
        <p:spPr>
          <a:xfrm>
            <a:off x="16108966" y="1234819"/>
            <a:ext cx="1037617" cy="1054989"/>
          </a:xfrm>
          <a:prstGeom prst="rect">
            <a:avLst/>
          </a:prstGeom>
          <a:noFill/>
          <a:ln>
            <a:noFill/>
          </a:ln>
        </p:spPr>
        <p:txBody>
          <a:bodyPr anchorCtr="0" anchor="t" bIns="0" lIns="0" spcFirstLastPara="1" rIns="0" wrap="square" tIns="0">
            <a:spAutoFit/>
          </a:bodyPr>
          <a:lstStyle/>
          <a:p>
            <a:pPr indent="0" lvl="0" marL="0" marR="0" rtl="0" algn="ctr">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02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nvSpPr>
        <p:spPr>
          <a:xfrm>
            <a:off x="5029991" y="1230056"/>
            <a:ext cx="8115300" cy="1054989"/>
          </a:xfrm>
          <a:prstGeom prst="rect">
            <a:avLst/>
          </a:prstGeom>
          <a:noFill/>
          <a:ln>
            <a:noFill/>
          </a:ln>
        </p:spPr>
        <p:txBody>
          <a:bodyPr anchorCtr="0" anchor="t" bIns="0" lIns="0" spcFirstLastPara="1" rIns="0" wrap="square" tIns="0">
            <a:spAutoFit/>
          </a:bodyPr>
          <a:lstStyle/>
          <a:p>
            <a:pPr indent="0" lvl="0" marL="0" marR="0" rtl="0" algn="ctr">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Branches</a:t>
            </a:r>
            <a:endParaRPr/>
          </a:p>
        </p:txBody>
      </p:sp>
      <p:cxnSp>
        <p:nvCxnSpPr>
          <p:cNvPr id="131" name="Google Shape;131;p5"/>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cxnSp>
        <p:nvCxnSpPr>
          <p:cNvPr id="132" name="Google Shape;132;p5"/>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133" name="Google Shape;133;p5"/>
          <p:cNvCxnSpPr/>
          <p:nvPr/>
        </p:nvCxnSpPr>
        <p:spPr>
          <a:xfrm rot="-5400000">
            <a:off x="12373409" y="1724213"/>
            <a:ext cx="1400551" cy="0"/>
          </a:xfrm>
          <a:prstGeom prst="straightConnector1">
            <a:avLst/>
          </a:prstGeom>
          <a:noFill/>
          <a:ln cap="rnd" cmpd="sng" w="9525">
            <a:solidFill>
              <a:srgbClr val="000000"/>
            </a:solidFill>
            <a:prstDash val="solid"/>
            <a:round/>
            <a:headEnd len="sm" w="sm" type="none"/>
            <a:tailEnd len="sm" w="sm" type="none"/>
          </a:ln>
        </p:spPr>
      </p:cxnSp>
      <p:cxnSp>
        <p:nvCxnSpPr>
          <p:cNvPr id="134" name="Google Shape;134;p5"/>
          <p:cNvCxnSpPr/>
          <p:nvPr/>
        </p:nvCxnSpPr>
        <p:spPr>
          <a:xfrm rot="-5400000">
            <a:off x="4390837" y="1733738"/>
            <a:ext cx="1400551" cy="0"/>
          </a:xfrm>
          <a:prstGeom prst="straightConnector1">
            <a:avLst/>
          </a:prstGeom>
          <a:noFill/>
          <a:ln cap="rnd" cmpd="sng" w="9525">
            <a:solidFill>
              <a:srgbClr val="000000"/>
            </a:solidFill>
            <a:prstDash val="solid"/>
            <a:round/>
            <a:headEnd len="sm" w="sm" type="none"/>
            <a:tailEnd len="sm" w="sm" type="none"/>
          </a:ln>
        </p:spPr>
      </p:cxnSp>
      <p:cxnSp>
        <p:nvCxnSpPr>
          <p:cNvPr id="135" name="Google Shape;135;p5"/>
          <p:cNvCxnSpPr/>
          <p:nvPr/>
        </p:nvCxnSpPr>
        <p:spPr>
          <a:xfrm>
            <a:off x="1085059" y="9921946"/>
            <a:ext cx="16117883" cy="0"/>
          </a:xfrm>
          <a:prstGeom prst="straightConnector1">
            <a:avLst/>
          </a:prstGeom>
          <a:noFill/>
          <a:ln cap="rnd" cmpd="sng" w="9525">
            <a:solidFill>
              <a:srgbClr val="000000"/>
            </a:solidFill>
            <a:prstDash val="solid"/>
            <a:round/>
            <a:headEnd len="sm" w="sm" type="none"/>
            <a:tailEnd len="sm" w="sm" type="none"/>
          </a:ln>
        </p:spPr>
      </p:cxnSp>
      <p:sp>
        <p:nvSpPr>
          <p:cNvPr id="136" name="Google Shape;136;p5"/>
          <p:cNvSpPr/>
          <p:nvPr/>
        </p:nvSpPr>
        <p:spPr>
          <a:xfrm>
            <a:off x="11159782" y="2866545"/>
            <a:ext cx="5078882" cy="6771842"/>
          </a:xfrm>
          <a:custGeom>
            <a:rect b="b" l="l" r="r" t="t"/>
            <a:pathLst>
              <a:path extrusionOk="0" h="6771842" w="5078882">
                <a:moveTo>
                  <a:pt x="0" y="0"/>
                </a:moveTo>
                <a:lnTo>
                  <a:pt x="5078881" y="0"/>
                </a:lnTo>
                <a:lnTo>
                  <a:pt x="5078881" y="6771842"/>
                </a:lnTo>
                <a:lnTo>
                  <a:pt x="0" y="6771842"/>
                </a:lnTo>
                <a:lnTo>
                  <a:pt x="0" y="0"/>
                </a:lnTo>
                <a:close/>
              </a:path>
            </a:pathLst>
          </a:custGeom>
          <a:blipFill rotWithShape="1">
            <a:blip r:embed="rId3">
              <a:alphaModFix/>
            </a:blip>
            <a:stretch>
              <a:fillRect b="0" l="0" r="0" t="0"/>
            </a:stretch>
          </a:blipFill>
          <a:ln>
            <a:noFill/>
          </a:ln>
        </p:spPr>
      </p:sp>
      <p:sp>
        <p:nvSpPr>
          <p:cNvPr id="137" name="Google Shape;137;p5"/>
          <p:cNvSpPr txBox="1"/>
          <p:nvPr/>
        </p:nvSpPr>
        <p:spPr>
          <a:xfrm>
            <a:off x="1085059" y="2828445"/>
            <a:ext cx="8864243" cy="4678045"/>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000000"/>
              </a:buClr>
              <a:buSzPts val="2199"/>
              <a:buFont typeface="Arial"/>
              <a:buChar char="•"/>
            </a:pPr>
            <a:r>
              <a:rPr b="1" i="0" lang="en-US" sz="2199" u="none" cap="none" strike="noStrike">
                <a:solidFill>
                  <a:srgbClr val="000000"/>
                </a:solidFill>
                <a:latin typeface="Open Sans"/>
                <a:ea typeface="Open Sans"/>
                <a:cs typeface="Open Sans"/>
                <a:sym typeface="Open Sans"/>
              </a:rPr>
              <a:t>Location</a:t>
            </a:r>
            <a:r>
              <a:rPr b="0" i="0" lang="en-US" sz="2199" u="none" cap="none" strike="noStrike">
                <a:solidFill>
                  <a:srgbClr val="000000"/>
                </a:solidFill>
                <a:latin typeface="Open Sans"/>
                <a:ea typeface="Open Sans"/>
                <a:cs typeface="Open Sans"/>
                <a:sym typeface="Open Sans"/>
              </a:rPr>
              <a:t>: Hội An</a:t>
            </a:r>
            <a:endParaRPr/>
          </a:p>
          <a:p>
            <a:pPr indent="-237490" lvl="1" marL="474979" marR="0" rtl="0" algn="l">
              <a:lnSpc>
                <a:spcPct val="140018"/>
              </a:lnSpc>
              <a:spcBef>
                <a:spcPts val="0"/>
              </a:spcBef>
              <a:spcAft>
                <a:spcPts val="0"/>
              </a:spcAft>
              <a:buClr>
                <a:srgbClr val="000000"/>
              </a:buClr>
              <a:buSzPts val="2199"/>
              <a:buFont typeface="Arial"/>
              <a:buChar char="•"/>
            </a:pPr>
            <a:r>
              <a:rPr b="1" i="0" lang="en-US" sz="2199" u="none" cap="none" strike="noStrike">
                <a:solidFill>
                  <a:srgbClr val="000000"/>
                </a:solidFill>
                <a:latin typeface="Open Sans"/>
                <a:ea typeface="Open Sans"/>
                <a:cs typeface="Open Sans"/>
                <a:sym typeface="Open Sans"/>
              </a:rPr>
              <a:t>Opening Hours: </a:t>
            </a:r>
            <a:r>
              <a:rPr b="0" i="0" lang="en-US" sz="2199" u="none" cap="none" strike="noStrike">
                <a:solidFill>
                  <a:srgbClr val="000000"/>
                </a:solidFill>
                <a:latin typeface="Open Sans"/>
                <a:ea typeface="Open Sans"/>
                <a:cs typeface="Open Sans"/>
                <a:sym typeface="Open Sans"/>
              </a:rPr>
              <a:t>10:00 - 00:00</a:t>
            </a:r>
            <a:endParaRPr/>
          </a:p>
          <a:p>
            <a:pPr indent="-237490" lvl="1" marL="474979" marR="0" rtl="0" algn="l">
              <a:lnSpc>
                <a:spcPct val="140018"/>
              </a:lnSpc>
              <a:spcBef>
                <a:spcPts val="0"/>
              </a:spcBef>
              <a:spcAft>
                <a:spcPts val="0"/>
              </a:spcAft>
              <a:buClr>
                <a:srgbClr val="000000"/>
              </a:buClr>
              <a:buSzPts val="2199"/>
              <a:buFont typeface="Arial"/>
              <a:buChar char="•"/>
            </a:pPr>
            <a:r>
              <a:rPr b="1" i="0" lang="en-US" sz="2199" u="none" cap="none" strike="noStrike">
                <a:solidFill>
                  <a:srgbClr val="000000"/>
                </a:solidFill>
                <a:latin typeface="Open Sans"/>
                <a:ea typeface="Open Sans"/>
                <a:cs typeface="Open Sans"/>
                <a:sym typeface="Open Sans"/>
              </a:rPr>
              <a:t>Capacity:</a:t>
            </a:r>
            <a:r>
              <a:rPr b="0" i="0" lang="en-US" sz="2199" u="none" cap="none" strike="noStrike">
                <a:solidFill>
                  <a:srgbClr val="000000"/>
                </a:solidFill>
                <a:latin typeface="Open Sans"/>
                <a:ea typeface="Open Sans"/>
                <a:cs typeface="Open Sans"/>
                <a:sym typeface="Open Sans"/>
              </a:rPr>
              <a:t> 70 pax</a:t>
            </a:r>
            <a:endParaRPr/>
          </a:p>
          <a:p>
            <a:pPr indent="0" lvl="0" marL="0" marR="0" rtl="0" algn="l">
              <a:lnSpc>
                <a:spcPct val="140018"/>
              </a:lnSpc>
              <a:spcBef>
                <a:spcPts val="0"/>
              </a:spcBef>
              <a:spcAft>
                <a:spcPts val="0"/>
              </a:spcAft>
              <a:buNone/>
            </a:pPr>
            <a:r>
              <a:t/>
            </a:r>
            <a:endParaRPr b="0" i="0" sz="2199" u="none" cap="none" strike="noStrike">
              <a:solidFill>
                <a:srgbClr val="000000"/>
              </a:solidFill>
              <a:latin typeface="Open Sans"/>
              <a:ea typeface="Open Sans"/>
              <a:cs typeface="Open Sans"/>
              <a:sym typeface="Open Sans"/>
            </a:endParaRPr>
          </a:p>
          <a:p>
            <a:pPr indent="-248284" lvl="1" marL="496569" marR="0" rtl="0" algn="l">
              <a:lnSpc>
                <a:spcPct val="140017"/>
              </a:lnSpc>
              <a:spcBef>
                <a:spcPts val="0"/>
              </a:spcBef>
              <a:spcAft>
                <a:spcPts val="0"/>
              </a:spcAft>
              <a:buClr>
                <a:srgbClr val="000000"/>
              </a:buClr>
              <a:buSzPts val="2299"/>
              <a:buFont typeface="Arial"/>
              <a:buChar char="•"/>
            </a:pPr>
            <a:r>
              <a:rPr b="1" i="0" lang="en-US" sz="2299" u="none" cap="none" strike="noStrike">
                <a:solidFill>
                  <a:srgbClr val="000000"/>
                </a:solidFill>
                <a:latin typeface="Open Sans"/>
                <a:ea typeface="Open Sans"/>
                <a:cs typeface="Open Sans"/>
                <a:sym typeface="Open Sans"/>
              </a:rPr>
              <a:t>Ambience and Atmosphere: </a:t>
            </a:r>
            <a:endParaRPr/>
          </a:p>
          <a:p>
            <a:pPr indent="0" lvl="0" marL="0" marR="0" rtl="0" algn="l">
              <a:lnSpc>
                <a:spcPct val="140018"/>
              </a:lnSpc>
              <a:spcBef>
                <a:spcPts val="0"/>
              </a:spcBef>
              <a:spcAft>
                <a:spcPts val="0"/>
              </a:spcAft>
              <a:buNone/>
            </a:pPr>
            <a:r>
              <a:rPr b="0" i="0" lang="en-US" sz="2199" u="none" cap="none" strike="noStrike">
                <a:solidFill>
                  <a:srgbClr val="000000"/>
                </a:solidFill>
                <a:latin typeface="Open Sans"/>
                <a:ea typeface="Open Sans"/>
                <a:cs typeface="Open Sans"/>
                <a:sym typeface="Open Sans"/>
              </a:rPr>
              <a:t>Located on the riverbank, our restaurant offers breathtaking panoramic views. Enjoy a delightful meal at our restaurant, just steps away from the famous bridge - Chùa Cầu Bridge in the ancient town Hoi An.</a:t>
            </a:r>
            <a:endParaRPr/>
          </a:p>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Open Sans"/>
                <a:ea typeface="Open Sans"/>
                <a:cs typeface="Open Sans"/>
                <a:sym typeface="Open Sans"/>
              </a:rPr>
              <a:t>Đối diện khu vực bờ sông. Nhắm đến du khách và người nước ngoài sinh sống tại Hội An Đà Nẵng. Khách Nhật và Hàn cũng được nhắm đến.</a:t>
            </a:r>
            <a:endParaRPr/>
          </a:p>
        </p:txBody>
      </p:sp>
      <p:sp>
        <p:nvSpPr>
          <p:cNvPr id="138" name="Google Shape;138;p5"/>
          <p:cNvSpPr txBox="1"/>
          <p:nvPr/>
        </p:nvSpPr>
        <p:spPr>
          <a:xfrm>
            <a:off x="16108966" y="1234819"/>
            <a:ext cx="1037617" cy="1054989"/>
          </a:xfrm>
          <a:prstGeom prst="rect">
            <a:avLst/>
          </a:prstGeom>
          <a:noFill/>
          <a:ln>
            <a:noFill/>
          </a:ln>
        </p:spPr>
        <p:txBody>
          <a:bodyPr anchorCtr="0" anchor="t" bIns="0" lIns="0" spcFirstLastPara="1" rIns="0" wrap="square" tIns="0">
            <a:spAutoFit/>
          </a:bodyPr>
          <a:lstStyle/>
          <a:p>
            <a:pPr indent="0" lvl="0" marL="0" marR="0" rtl="0" algn="ctr">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03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txBox="1"/>
          <p:nvPr/>
        </p:nvSpPr>
        <p:spPr>
          <a:xfrm>
            <a:off x="5029991" y="1230056"/>
            <a:ext cx="8115300" cy="1054989"/>
          </a:xfrm>
          <a:prstGeom prst="rect">
            <a:avLst/>
          </a:prstGeom>
          <a:noFill/>
          <a:ln>
            <a:noFill/>
          </a:ln>
        </p:spPr>
        <p:txBody>
          <a:bodyPr anchorCtr="0" anchor="t" bIns="0" lIns="0" spcFirstLastPara="1" rIns="0" wrap="square" tIns="0">
            <a:spAutoFit/>
          </a:bodyPr>
          <a:lstStyle/>
          <a:p>
            <a:pPr indent="0" lvl="0" marL="0" marR="0" rtl="0" algn="ctr">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Logo</a:t>
            </a:r>
            <a:endParaRPr/>
          </a:p>
        </p:txBody>
      </p:sp>
      <p:cxnSp>
        <p:nvCxnSpPr>
          <p:cNvPr id="144" name="Google Shape;144;p6"/>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cxnSp>
        <p:nvCxnSpPr>
          <p:cNvPr id="145" name="Google Shape;145;p6"/>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146" name="Google Shape;146;p6"/>
          <p:cNvCxnSpPr/>
          <p:nvPr/>
        </p:nvCxnSpPr>
        <p:spPr>
          <a:xfrm rot="-5400000">
            <a:off x="12373409" y="1724213"/>
            <a:ext cx="1400551" cy="0"/>
          </a:xfrm>
          <a:prstGeom prst="straightConnector1">
            <a:avLst/>
          </a:prstGeom>
          <a:noFill/>
          <a:ln cap="rnd" cmpd="sng" w="9525">
            <a:solidFill>
              <a:srgbClr val="000000"/>
            </a:solidFill>
            <a:prstDash val="solid"/>
            <a:round/>
            <a:headEnd len="sm" w="sm" type="none"/>
            <a:tailEnd len="sm" w="sm" type="none"/>
          </a:ln>
        </p:spPr>
      </p:cxnSp>
      <p:cxnSp>
        <p:nvCxnSpPr>
          <p:cNvPr id="147" name="Google Shape;147;p6"/>
          <p:cNvCxnSpPr/>
          <p:nvPr/>
        </p:nvCxnSpPr>
        <p:spPr>
          <a:xfrm rot="-5400000">
            <a:off x="4390837" y="1733738"/>
            <a:ext cx="1400551" cy="0"/>
          </a:xfrm>
          <a:prstGeom prst="straightConnector1">
            <a:avLst/>
          </a:prstGeom>
          <a:noFill/>
          <a:ln cap="rnd" cmpd="sng" w="9525">
            <a:solidFill>
              <a:srgbClr val="000000"/>
            </a:solidFill>
            <a:prstDash val="solid"/>
            <a:round/>
            <a:headEnd len="sm" w="sm" type="none"/>
            <a:tailEnd len="sm" w="sm" type="none"/>
          </a:ln>
        </p:spPr>
      </p:cxnSp>
      <p:cxnSp>
        <p:nvCxnSpPr>
          <p:cNvPr id="148" name="Google Shape;148;p6"/>
          <p:cNvCxnSpPr/>
          <p:nvPr/>
        </p:nvCxnSpPr>
        <p:spPr>
          <a:xfrm>
            <a:off x="1028700" y="9258300"/>
            <a:ext cx="16117883" cy="0"/>
          </a:xfrm>
          <a:prstGeom prst="straightConnector1">
            <a:avLst/>
          </a:prstGeom>
          <a:noFill/>
          <a:ln cap="rnd" cmpd="sng" w="9525">
            <a:solidFill>
              <a:srgbClr val="000000"/>
            </a:solidFill>
            <a:prstDash val="solid"/>
            <a:round/>
            <a:headEnd len="sm" w="sm" type="none"/>
            <a:tailEnd len="sm" w="sm" type="none"/>
          </a:ln>
        </p:spPr>
      </p:cxnSp>
      <p:sp>
        <p:nvSpPr>
          <p:cNvPr id="149" name="Google Shape;149;p6"/>
          <p:cNvSpPr/>
          <p:nvPr/>
        </p:nvSpPr>
        <p:spPr>
          <a:xfrm>
            <a:off x="4899159" y="2831980"/>
            <a:ext cx="4188482" cy="4188482"/>
          </a:xfrm>
          <a:custGeom>
            <a:rect b="b" l="l" r="r" t="t"/>
            <a:pathLst>
              <a:path extrusionOk="0" h="4188482" w="4188482">
                <a:moveTo>
                  <a:pt x="0" y="0"/>
                </a:moveTo>
                <a:lnTo>
                  <a:pt x="4188482" y="0"/>
                </a:lnTo>
                <a:lnTo>
                  <a:pt x="4188482" y="4188482"/>
                </a:lnTo>
                <a:lnTo>
                  <a:pt x="0" y="4188482"/>
                </a:lnTo>
                <a:lnTo>
                  <a:pt x="0" y="0"/>
                </a:lnTo>
                <a:close/>
              </a:path>
            </a:pathLst>
          </a:custGeom>
          <a:blipFill rotWithShape="1">
            <a:blip r:embed="rId3">
              <a:alphaModFix/>
            </a:blip>
            <a:stretch>
              <a:fillRect b="0" l="0" r="0" t="0"/>
            </a:stretch>
          </a:blipFill>
          <a:ln>
            <a:noFill/>
          </a:ln>
        </p:spPr>
      </p:sp>
      <p:sp>
        <p:nvSpPr>
          <p:cNvPr id="150" name="Google Shape;150;p6"/>
          <p:cNvSpPr/>
          <p:nvPr/>
        </p:nvSpPr>
        <p:spPr>
          <a:xfrm>
            <a:off x="1028700" y="2831980"/>
            <a:ext cx="2992861" cy="4188482"/>
          </a:xfrm>
          <a:custGeom>
            <a:rect b="b" l="l" r="r" t="t"/>
            <a:pathLst>
              <a:path extrusionOk="0" h="4188482" w="2992861">
                <a:moveTo>
                  <a:pt x="0" y="0"/>
                </a:moveTo>
                <a:lnTo>
                  <a:pt x="2992861" y="0"/>
                </a:lnTo>
                <a:lnTo>
                  <a:pt x="2992861" y="4188482"/>
                </a:lnTo>
                <a:lnTo>
                  <a:pt x="0" y="4188482"/>
                </a:lnTo>
                <a:lnTo>
                  <a:pt x="0" y="0"/>
                </a:lnTo>
                <a:close/>
              </a:path>
            </a:pathLst>
          </a:custGeom>
          <a:blipFill rotWithShape="1">
            <a:blip r:embed="rId4">
              <a:alphaModFix/>
            </a:blip>
            <a:stretch>
              <a:fillRect b="0" l="0" r="0" t="0"/>
            </a:stretch>
          </a:blipFill>
          <a:ln>
            <a:noFill/>
          </a:ln>
        </p:spPr>
      </p:sp>
      <p:sp>
        <p:nvSpPr>
          <p:cNvPr id="151" name="Google Shape;151;p6"/>
          <p:cNvSpPr/>
          <p:nvPr/>
        </p:nvSpPr>
        <p:spPr>
          <a:xfrm>
            <a:off x="10946776" y="3371149"/>
            <a:ext cx="6199807" cy="3544702"/>
          </a:xfrm>
          <a:custGeom>
            <a:rect b="b" l="l" r="r" t="t"/>
            <a:pathLst>
              <a:path extrusionOk="0" h="3544702" w="6199807">
                <a:moveTo>
                  <a:pt x="0" y="0"/>
                </a:moveTo>
                <a:lnTo>
                  <a:pt x="6199807" y="0"/>
                </a:lnTo>
                <a:lnTo>
                  <a:pt x="6199807" y="3544702"/>
                </a:lnTo>
                <a:lnTo>
                  <a:pt x="0" y="3544702"/>
                </a:lnTo>
                <a:lnTo>
                  <a:pt x="0" y="0"/>
                </a:lnTo>
                <a:close/>
              </a:path>
            </a:pathLst>
          </a:custGeom>
          <a:blipFill rotWithShape="1">
            <a:blip r:embed="rId5">
              <a:alphaModFix/>
            </a:blip>
            <a:stretch>
              <a:fillRect b="0" l="0" r="0" t="0"/>
            </a:stretch>
          </a:blipFill>
          <a:ln>
            <a:noFill/>
          </a:ln>
        </p:spPr>
      </p:sp>
      <p:cxnSp>
        <p:nvCxnSpPr>
          <p:cNvPr id="152" name="Google Shape;152;p6"/>
          <p:cNvCxnSpPr/>
          <p:nvPr/>
        </p:nvCxnSpPr>
        <p:spPr>
          <a:xfrm flipH="1" rot="10800000">
            <a:off x="9144000" y="3371149"/>
            <a:ext cx="4762" cy="5439035"/>
          </a:xfrm>
          <a:prstGeom prst="straightConnector1">
            <a:avLst/>
          </a:prstGeom>
          <a:noFill/>
          <a:ln cap="rnd" cmpd="sng" w="9525">
            <a:solidFill>
              <a:srgbClr val="000000"/>
            </a:solidFill>
            <a:prstDash val="solid"/>
            <a:round/>
            <a:headEnd len="sm" w="sm" type="none"/>
            <a:tailEnd len="sm" w="sm" type="none"/>
          </a:ln>
        </p:spPr>
      </p:cxnSp>
      <p:sp>
        <p:nvSpPr>
          <p:cNvPr id="153" name="Google Shape;153;p6"/>
          <p:cNvSpPr txBox="1"/>
          <p:nvPr/>
        </p:nvSpPr>
        <p:spPr>
          <a:xfrm>
            <a:off x="1028700" y="8437439"/>
            <a:ext cx="2743004" cy="37274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199" u="none" cap="none" strike="noStrike">
                <a:solidFill>
                  <a:srgbClr val="000000"/>
                </a:solidFill>
                <a:latin typeface="Open Sans Light"/>
                <a:ea typeface="Open Sans Light"/>
                <a:cs typeface="Open Sans Light"/>
                <a:sym typeface="Open Sans Light"/>
              </a:rPr>
              <a:t>Round Logo</a:t>
            </a:r>
            <a:endParaRPr/>
          </a:p>
        </p:txBody>
      </p:sp>
      <p:sp>
        <p:nvSpPr>
          <p:cNvPr id="154" name="Google Shape;154;p6"/>
          <p:cNvSpPr txBox="1"/>
          <p:nvPr/>
        </p:nvSpPr>
        <p:spPr>
          <a:xfrm>
            <a:off x="9427770" y="8437439"/>
            <a:ext cx="2743004" cy="37274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199" u="none" cap="none" strike="noStrike">
                <a:solidFill>
                  <a:srgbClr val="000000"/>
                </a:solidFill>
                <a:latin typeface="Open Sans Light"/>
                <a:ea typeface="Open Sans Light"/>
                <a:cs typeface="Open Sans Light"/>
                <a:sym typeface="Open Sans Light"/>
              </a:rPr>
              <a:t>Lettering Logo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7"/>
          <p:cNvSpPr txBox="1"/>
          <p:nvPr/>
        </p:nvSpPr>
        <p:spPr>
          <a:xfrm>
            <a:off x="5029991" y="1230056"/>
            <a:ext cx="8115300" cy="1054989"/>
          </a:xfrm>
          <a:prstGeom prst="rect">
            <a:avLst/>
          </a:prstGeom>
          <a:noFill/>
          <a:ln>
            <a:noFill/>
          </a:ln>
        </p:spPr>
        <p:txBody>
          <a:bodyPr anchorCtr="0" anchor="t" bIns="0" lIns="0" spcFirstLastPara="1" rIns="0" wrap="square" tIns="0">
            <a:spAutoFit/>
          </a:bodyPr>
          <a:lstStyle/>
          <a:p>
            <a:pPr indent="0" lvl="0" marL="0" marR="0" rtl="0" algn="ctr">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Patterns</a:t>
            </a:r>
            <a:endParaRPr/>
          </a:p>
        </p:txBody>
      </p:sp>
      <p:cxnSp>
        <p:nvCxnSpPr>
          <p:cNvPr id="160" name="Google Shape;160;p7"/>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cxnSp>
        <p:nvCxnSpPr>
          <p:cNvPr id="161" name="Google Shape;161;p7"/>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162" name="Google Shape;162;p7"/>
          <p:cNvCxnSpPr/>
          <p:nvPr/>
        </p:nvCxnSpPr>
        <p:spPr>
          <a:xfrm rot="-5400000">
            <a:off x="12373409" y="1724213"/>
            <a:ext cx="1400551" cy="0"/>
          </a:xfrm>
          <a:prstGeom prst="straightConnector1">
            <a:avLst/>
          </a:prstGeom>
          <a:noFill/>
          <a:ln cap="rnd" cmpd="sng" w="9525">
            <a:solidFill>
              <a:srgbClr val="000000"/>
            </a:solidFill>
            <a:prstDash val="solid"/>
            <a:round/>
            <a:headEnd len="sm" w="sm" type="none"/>
            <a:tailEnd len="sm" w="sm" type="none"/>
          </a:ln>
        </p:spPr>
      </p:cxnSp>
      <p:cxnSp>
        <p:nvCxnSpPr>
          <p:cNvPr id="163" name="Google Shape;163;p7"/>
          <p:cNvCxnSpPr/>
          <p:nvPr/>
        </p:nvCxnSpPr>
        <p:spPr>
          <a:xfrm rot="-5400000">
            <a:off x="4390837" y="1733738"/>
            <a:ext cx="1400551" cy="0"/>
          </a:xfrm>
          <a:prstGeom prst="straightConnector1">
            <a:avLst/>
          </a:prstGeom>
          <a:noFill/>
          <a:ln cap="rnd" cmpd="sng" w="9525">
            <a:solidFill>
              <a:srgbClr val="000000"/>
            </a:solidFill>
            <a:prstDash val="solid"/>
            <a:round/>
            <a:headEnd len="sm" w="sm" type="none"/>
            <a:tailEnd len="sm" w="sm" type="none"/>
          </a:ln>
        </p:spPr>
      </p:cxnSp>
      <p:sp>
        <p:nvSpPr>
          <p:cNvPr id="164" name="Google Shape;164;p7"/>
          <p:cNvSpPr/>
          <p:nvPr/>
        </p:nvSpPr>
        <p:spPr>
          <a:xfrm>
            <a:off x="7443824" y="3011473"/>
            <a:ext cx="3585065" cy="5067229"/>
          </a:xfrm>
          <a:custGeom>
            <a:rect b="b" l="l" r="r" t="t"/>
            <a:pathLst>
              <a:path extrusionOk="0" h="5067229" w="3585065">
                <a:moveTo>
                  <a:pt x="0" y="0"/>
                </a:moveTo>
                <a:lnTo>
                  <a:pt x="3585065" y="0"/>
                </a:lnTo>
                <a:lnTo>
                  <a:pt x="3585065" y="5067229"/>
                </a:lnTo>
                <a:lnTo>
                  <a:pt x="0" y="5067229"/>
                </a:lnTo>
                <a:lnTo>
                  <a:pt x="0" y="0"/>
                </a:lnTo>
                <a:close/>
              </a:path>
            </a:pathLst>
          </a:custGeom>
          <a:blipFill rotWithShape="1">
            <a:blip r:embed="rId3">
              <a:alphaModFix/>
            </a:blip>
            <a:stretch>
              <a:fillRect b="0" l="0" r="0" t="0"/>
            </a:stretch>
          </a:blipFill>
          <a:ln>
            <a:noFill/>
          </a:ln>
        </p:spPr>
      </p:sp>
      <p:sp>
        <p:nvSpPr>
          <p:cNvPr id="165" name="Google Shape;165;p7"/>
          <p:cNvSpPr/>
          <p:nvPr/>
        </p:nvSpPr>
        <p:spPr>
          <a:xfrm>
            <a:off x="12483941" y="3011479"/>
            <a:ext cx="2625491" cy="4566072"/>
          </a:xfrm>
          <a:custGeom>
            <a:rect b="b" l="l" r="r" t="t"/>
            <a:pathLst>
              <a:path extrusionOk="0" h="4566072" w="2625491">
                <a:moveTo>
                  <a:pt x="0" y="0"/>
                </a:moveTo>
                <a:lnTo>
                  <a:pt x="2625491" y="0"/>
                </a:lnTo>
                <a:lnTo>
                  <a:pt x="2625491" y="4566072"/>
                </a:lnTo>
                <a:lnTo>
                  <a:pt x="0" y="4566072"/>
                </a:lnTo>
                <a:lnTo>
                  <a:pt x="0" y="0"/>
                </a:lnTo>
                <a:close/>
              </a:path>
            </a:pathLst>
          </a:custGeom>
          <a:blipFill rotWithShape="1">
            <a:blip r:embed="rId4">
              <a:alphaModFix/>
            </a:blip>
            <a:stretch>
              <a:fillRect b="0" l="0" r="0" t="0"/>
            </a:stretch>
          </a:blipFill>
          <a:ln>
            <a:noFill/>
          </a:ln>
        </p:spPr>
      </p:sp>
      <p:sp>
        <p:nvSpPr>
          <p:cNvPr id="166" name="Google Shape;166;p7"/>
          <p:cNvSpPr/>
          <p:nvPr/>
        </p:nvSpPr>
        <p:spPr>
          <a:xfrm>
            <a:off x="5873853" y="8070577"/>
            <a:ext cx="6084039" cy="1908867"/>
          </a:xfrm>
          <a:custGeom>
            <a:rect b="b" l="l" r="r" t="t"/>
            <a:pathLst>
              <a:path extrusionOk="0" h="1908867" w="6084039">
                <a:moveTo>
                  <a:pt x="0" y="0"/>
                </a:moveTo>
                <a:lnTo>
                  <a:pt x="6084039" y="0"/>
                </a:lnTo>
                <a:lnTo>
                  <a:pt x="6084039" y="1908867"/>
                </a:lnTo>
                <a:lnTo>
                  <a:pt x="0" y="1908867"/>
                </a:lnTo>
                <a:lnTo>
                  <a:pt x="0" y="0"/>
                </a:lnTo>
                <a:close/>
              </a:path>
            </a:pathLst>
          </a:custGeom>
          <a:blipFill rotWithShape="1">
            <a:blip r:embed="rId5">
              <a:alphaModFix/>
            </a:blip>
            <a:stretch>
              <a:fillRect b="0" l="0" r="0" t="0"/>
            </a:stretch>
          </a:blipFill>
          <a:ln>
            <a:noFill/>
          </a:ln>
        </p:spPr>
      </p:sp>
      <p:sp>
        <p:nvSpPr>
          <p:cNvPr id="167" name="Google Shape;167;p7"/>
          <p:cNvSpPr/>
          <p:nvPr/>
        </p:nvSpPr>
        <p:spPr>
          <a:xfrm>
            <a:off x="1362063" y="5662872"/>
            <a:ext cx="4262615" cy="4316572"/>
          </a:xfrm>
          <a:custGeom>
            <a:rect b="b" l="l" r="r" t="t"/>
            <a:pathLst>
              <a:path extrusionOk="0" h="4316572" w="4262615">
                <a:moveTo>
                  <a:pt x="0" y="0"/>
                </a:moveTo>
                <a:lnTo>
                  <a:pt x="4262615" y="0"/>
                </a:lnTo>
                <a:lnTo>
                  <a:pt x="4262615" y="4316572"/>
                </a:lnTo>
                <a:lnTo>
                  <a:pt x="0" y="4316572"/>
                </a:lnTo>
                <a:lnTo>
                  <a:pt x="0" y="0"/>
                </a:lnTo>
                <a:close/>
              </a:path>
            </a:pathLst>
          </a:custGeom>
          <a:blipFill rotWithShape="1">
            <a:blip r:embed="rId6">
              <a:alphaModFix/>
            </a:blip>
            <a:stretch>
              <a:fillRect b="0" l="0" r="0" t="0"/>
            </a:stretch>
          </a:blipFill>
          <a:ln>
            <a:noFill/>
          </a:ln>
        </p:spPr>
      </p:sp>
      <p:sp>
        <p:nvSpPr>
          <p:cNvPr id="168" name="Google Shape;168;p7"/>
          <p:cNvSpPr/>
          <p:nvPr/>
        </p:nvSpPr>
        <p:spPr>
          <a:xfrm>
            <a:off x="12483941" y="7859360"/>
            <a:ext cx="5250983" cy="2120084"/>
          </a:xfrm>
          <a:custGeom>
            <a:rect b="b" l="l" r="r" t="t"/>
            <a:pathLst>
              <a:path extrusionOk="0" h="2120084" w="5250983">
                <a:moveTo>
                  <a:pt x="0" y="0"/>
                </a:moveTo>
                <a:lnTo>
                  <a:pt x="5250983" y="0"/>
                </a:lnTo>
                <a:lnTo>
                  <a:pt x="5250983" y="2120084"/>
                </a:lnTo>
                <a:lnTo>
                  <a:pt x="0" y="2120084"/>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cxnSp>
        <p:nvCxnSpPr>
          <p:cNvPr id="173" name="Google Shape;173;p8"/>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174" name="Google Shape;174;p8"/>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sp>
        <p:nvSpPr>
          <p:cNvPr id="175" name="Google Shape;175;p8"/>
          <p:cNvSpPr/>
          <p:nvPr/>
        </p:nvSpPr>
        <p:spPr>
          <a:xfrm>
            <a:off x="2325213" y="4298191"/>
            <a:ext cx="9280334" cy="4047343"/>
          </a:xfrm>
          <a:custGeom>
            <a:rect b="b" l="l" r="r" t="t"/>
            <a:pathLst>
              <a:path extrusionOk="0" h="4047343" w="9280334">
                <a:moveTo>
                  <a:pt x="0" y="0"/>
                </a:moveTo>
                <a:lnTo>
                  <a:pt x="9280333" y="0"/>
                </a:lnTo>
                <a:lnTo>
                  <a:pt x="9280333" y="4047342"/>
                </a:lnTo>
                <a:lnTo>
                  <a:pt x="0" y="4047342"/>
                </a:lnTo>
                <a:lnTo>
                  <a:pt x="0" y="0"/>
                </a:lnTo>
                <a:close/>
              </a:path>
            </a:pathLst>
          </a:custGeom>
          <a:blipFill rotWithShape="1">
            <a:blip r:embed="rId3">
              <a:alphaModFix/>
            </a:blip>
            <a:stretch>
              <a:fillRect b="-98621" l="0" r="0" t="0"/>
            </a:stretch>
          </a:blipFill>
          <a:ln>
            <a:noFill/>
          </a:ln>
        </p:spPr>
      </p:sp>
      <p:sp>
        <p:nvSpPr>
          <p:cNvPr id="176" name="Google Shape;176;p8"/>
          <p:cNvSpPr/>
          <p:nvPr/>
        </p:nvSpPr>
        <p:spPr>
          <a:xfrm rot="5400000">
            <a:off x="10631972" y="4803473"/>
            <a:ext cx="7109561" cy="3036778"/>
          </a:xfrm>
          <a:custGeom>
            <a:rect b="b" l="l" r="r" t="t"/>
            <a:pathLst>
              <a:path extrusionOk="0" h="3036778" w="7109561">
                <a:moveTo>
                  <a:pt x="0" y="0"/>
                </a:moveTo>
                <a:lnTo>
                  <a:pt x="7109561" y="0"/>
                </a:lnTo>
                <a:lnTo>
                  <a:pt x="7109561" y="3036778"/>
                </a:lnTo>
                <a:lnTo>
                  <a:pt x="0" y="3036778"/>
                </a:lnTo>
                <a:lnTo>
                  <a:pt x="0" y="0"/>
                </a:lnTo>
                <a:close/>
              </a:path>
            </a:pathLst>
          </a:custGeom>
          <a:blipFill rotWithShape="1">
            <a:blip r:embed="rId4">
              <a:alphaModFix/>
            </a:blip>
            <a:stretch>
              <a:fillRect b="0" l="0" r="0" t="-102798"/>
            </a:stretch>
          </a:blipFill>
          <a:ln>
            <a:noFill/>
          </a:ln>
        </p:spPr>
      </p:sp>
      <p:sp>
        <p:nvSpPr>
          <p:cNvPr id="177" name="Google Shape;177;p8"/>
          <p:cNvSpPr txBox="1"/>
          <p:nvPr/>
        </p:nvSpPr>
        <p:spPr>
          <a:xfrm>
            <a:off x="5029991" y="1301303"/>
            <a:ext cx="8115300" cy="931545"/>
          </a:xfrm>
          <a:prstGeom prst="rect">
            <a:avLst/>
          </a:prstGeom>
          <a:noFill/>
          <a:ln>
            <a:noFill/>
          </a:ln>
        </p:spPr>
        <p:txBody>
          <a:bodyPr anchorCtr="0" anchor="t" bIns="0" lIns="0" spcFirstLastPara="1" rIns="0" wrap="square" tIns="0">
            <a:spAutoFit/>
          </a:bodyPr>
          <a:lstStyle/>
          <a:p>
            <a:pPr indent="0" lvl="0" marL="0" marR="0" rtl="0" algn="ctr">
              <a:lnSpc>
                <a:spcPct val="111000"/>
              </a:lnSpc>
              <a:spcBef>
                <a:spcPts val="0"/>
              </a:spcBef>
              <a:spcAft>
                <a:spcPts val="0"/>
              </a:spcAft>
              <a:buNone/>
            </a:pPr>
            <a:r>
              <a:rPr b="1" i="0" lang="en-US" sz="6500" u="none" cap="none" strike="noStrike">
                <a:solidFill>
                  <a:srgbClr val="000000"/>
                </a:solidFill>
                <a:latin typeface="Open Sans"/>
                <a:ea typeface="Open Sans"/>
                <a:cs typeface="Open Sans"/>
                <a:sym typeface="Open Sans"/>
              </a:rPr>
              <a:t>Primary Palette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cxnSp>
        <p:nvCxnSpPr>
          <p:cNvPr id="182" name="Google Shape;182;p9"/>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183" name="Google Shape;183;p9"/>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sp>
        <p:nvSpPr>
          <p:cNvPr id="184" name="Google Shape;184;p9"/>
          <p:cNvSpPr/>
          <p:nvPr/>
        </p:nvSpPr>
        <p:spPr>
          <a:xfrm>
            <a:off x="5006875" y="2648326"/>
            <a:ext cx="8274250" cy="7167569"/>
          </a:xfrm>
          <a:custGeom>
            <a:rect b="b" l="l" r="r" t="t"/>
            <a:pathLst>
              <a:path extrusionOk="0" h="7167569" w="8274250">
                <a:moveTo>
                  <a:pt x="0" y="0"/>
                </a:moveTo>
                <a:lnTo>
                  <a:pt x="8274250" y="0"/>
                </a:lnTo>
                <a:lnTo>
                  <a:pt x="8274250" y="7167570"/>
                </a:lnTo>
                <a:lnTo>
                  <a:pt x="0" y="7167570"/>
                </a:lnTo>
                <a:lnTo>
                  <a:pt x="0" y="0"/>
                </a:lnTo>
                <a:close/>
              </a:path>
            </a:pathLst>
          </a:custGeom>
          <a:blipFill rotWithShape="1">
            <a:blip r:embed="rId3">
              <a:alphaModFix/>
            </a:blip>
            <a:stretch>
              <a:fillRect b="0" l="0" r="0" t="0"/>
            </a:stretch>
          </a:blipFill>
          <a:ln>
            <a:noFill/>
          </a:ln>
        </p:spPr>
      </p:sp>
      <p:sp>
        <p:nvSpPr>
          <p:cNvPr id="185" name="Google Shape;185;p9"/>
          <p:cNvSpPr txBox="1"/>
          <p:nvPr/>
        </p:nvSpPr>
        <p:spPr>
          <a:xfrm>
            <a:off x="5029991" y="1301303"/>
            <a:ext cx="8115300" cy="931545"/>
          </a:xfrm>
          <a:prstGeom prst="rect">
            <a:avLst/>
          </a:prstGeom>
          <a:noFill/>
          <a:ln>
            <a:noFill/>
          </a:ln>
        </p:spPr>
        <p:txBody>
          <a:bodyPr anchorCtr="0" anchor="t" bIns="0" lIns="0" spcFirstLastPara="1" rIns="0" wrap="square" tIns="0">
            <a:spAutoFit/>
          </a:bodyPr>
          <a:lstStyle/>
          <a:p>
            <a:pPr indent="0" lvl="0" marL="0" marR="0" rtl="0" algn="ctr">
              <a:lnSpc>
                <a:spcPct val="111000"/>
              </a:lnSpc>
              <a:spcBef>
                <a:spcPts val="0"/>
              </a:spcBef>
              <a:spcAft>
                <a:spcPts val="0"/>
              </a:spcAft>
              <a:buNone/>
            </a:pPr>
            <a:r>
              <a:rPr b="1" i="0" lang="en-US" sz="6500" u="none" cap="none" strike="noStrike">
                <a:solidFill>
                  <a:srgbClr val="000000"/>
                </a:solidFill>
                <a:latin typeface="Open Sans"/>
                <a:ea typeface="Open Sans"/>
                <a:cs typeface="Open Sans"/>
                <a:sym typeface="Open Sans"/>
              </a:rPr>
              <a:t>Secondary Palette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cxnSp>
        <p:nvCxnSpPr>
          <p:cNvPr id="190" name="Google Shape;190;p10"/>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191" name="Google Shape;191;p10"/>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sp>
        <p:nvSpPr>
          <p:cNvPr id="192" name="Google Shape;192;p10"/>
          <p:cNvSpPr/>
          <p:nvPr/>
        </p:nvSpPr>
        <p:spPr>
          <a:xfrm>
            <a:off x="2042879" y="2648326"/>
            <a:ext cx="3425102" cy="7425696"/>
          </a:xfrm>
          <a:custGeom>
            <a:rect b="b" l="l" r="r" t="t"/>
            <a:pathLst>
              <a:path extrusionOk="0" h="7425696" w="3425102">
                <a:moveTo>
                  <a:pt x="0" y="0"/>
                </a:moveTo>
                <a:lnTo>
                  <a:pt x="3425102" y="0"/>
                </a:lnTo>
                <a:lnTo>
                  <a:pt x="3425102" y="7425697"/>
                </a:lnTo>
                <a:lnTo>
                  <a:pt x="0" y="7425697"/>
                </a:lnTo>
                <a:lnTo>
                  <a:pt x="0" y="0"/>
                </a:lnTo>
                <a:close/>
              </a:path>
            </a:pathLst>
          </a:custGeom>
          <a:blipFill rotWithShape="1">
            <a:blip r:embed="rId3">
              <a:alphaModFix/>
            </a:blip>
            <a:stretch>
              <a:fillRect b="0" l="0" r="0" t="0"/>
            </a:stretch>
          </a:blipFill>
          <a:ln>
            <a:noFill/>
          </a:ln>
        </p:spPr>
      </p:sp>
      <p:sp>
        <p:nvSpPr>
          <p:cNvPr id="193" name="Google Shape;193;p10"/>
          <p:cNvSpPr/>
          <p:nvPr/>
        </p:nvSpPr>
        <p:spPr>
          <a:xfrm>
            <a:off x="7431449" y="2648326"/>
            <a:ext cx="3425102" cy="7425696"/>
          </a:xfrm>
          <a:custGeom>
            <a:rect b="b" l="l" r="r" t="t"/>
            <a:pathLst>
              <a:path extrusionOk="0" h="7425696" w="3425102">
                <a:moveTo>
                  <a:pt x="0" y="0"/>
                </a:moveTo>
                <a:lnTo>
                  <a:pt x="3425102" y="0"/>
                </a:lnTo>
                <a:lnTo>
                  <a:pt x="3425102" y="7425697"/>
                </a:lnTo>
                <a:lnTo>
                  <a:pt x="0" y="7425697"/>
                </a:lnTo>
                <a:lnTo>
                  <a:pt x="0" y="0"/>
                </a:lnTo>
                <a:close/>
              </a:path>
            </a:pathLst>
          </a:custGeom>
          <a:blipFill rotWithShape="1">
            <a:blip r:embed="rId4">
              <a:alphaModFix/>
            </a:blip>
            <a:stretch>
              <a:fillRect b="0" l="0" r="0" t="0"/>
            </a:stretch>
          </a:blipFill>
          <a:ln>
            <a:noFill/>
          </a:ln>
        </p:spPr>
      </p:sp>
      <p:sp>
        <p:nvSpPr>
          <p:cNvPr id="194" name="Google Shape;194;p10"/>
          <p:cNvSpPr/>
          <p:nvPr/>
        </p:nvSpPr>
        <p:spPr>
          <a:xfrm>
            <a:off x="12818701" y="2648326"/>
            <a:ext cx="3425102" cy="7425696"/>
          </a:xfrm>
          <a:custGeom>
            <a:rect b="b" l="l" r="r" t="t"/>
            <a:pathLst>
              <a:path extrusionOk="0" h="7425696" w="3425102">
                <a:moveTo>
                  <a:pt x="0" y="0"/>
                </a:moveTo>
                <a:lnTo>
                  <a:pt x="3425103" y="0"/>
                </a:lnTo>
                <a:lnTo>
                  <a:pt x="3425103" y="7425697"/>
                </a:lnTo>
                <a:lnTo>
                  <a:pt x="0" y="7425697"/>
                </a:lnTo>
                <a:lnTo>
                  <a:pt x="0" y="0"/>
                </a:lnTo>
                <a:close/>
              </a:path>
            </a:pathLst>
          </a:custGeom>
          <a:blipFill rotWithShape="1">
            <a:blip r:embed="rId5">
              <a:alphaModFix/>
            </a:blip>
            <a:stretch>
              <a:fillRect b="0" l="0" r="0" t="0"/>
            </a:stretch>
          </a:blipFill>
          <a:ln>
            <a:noFill/>
          </a:ln>
        </p:spPr>
      </p:sp>
      <p:sp>
        <p:nvSpPr>
          <p:cNvPr id="195" name="Google Shape;195;p10"/>
          <p:cNvSpPr txBox="1"/>
          <p:nvPr/>
        </p:nvSpPr>
        <p:spPr>
          <a:xfrm>
            <a:off x="2042879" y="1301303"/>
            <a:ext cx="14202242" cy="1054989"/>
          </a:xfrm>
          <a:prstGeom prst="rect">
            <a:avLst/>
          </a:prstGeom>
          <a:noFill/>
          <a:ln>
            <a:noFill/>
          </a:ln>
        </p:spPr>
        <p:txBody>
          <a:bodyPr anchorCtr="0" anchor="t" bIns="0" lIns="0" spcFirstLastPara="1" rIns="0" wrap="square" tIns="0">
            <a:spAutoFit/>
          </a:bodyPr>
          <a:lstStyle/>
          <a:p>
            <a:pPr indent="0" lvl="0" marL="0" marR="0" rtl="0" algn="ctr">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Current Platforms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1383A"/>
        </a:solidFill>
      </p:bgPr>
    </p:bg>
    <p:spTree>
      <p:nvGrpSpPr>
        <p:cNvPr id="199" name="Shape 199"/>
        <p:cNvGrpSpPr/>
        <p:nvPr/>
      </p:nvGrpSpPr>
      <p:grpSpPr>
        <a:xfrm>
          <a:off x="0" y="0"/>
          <a:ext cx="0" cy="0"/>
          <a:chOff x="0" y="0"/>
          <a:chExt cx="0" cy="0"/>
        </a:xfrm>
      </p:grpSpPr>
      <p:sp>
        <p:nvSpPr>
          <p:cNvPr id="200" name="Google Shape;200;p11"/>
          <p:cNvSpPr txBox="1"/>
          <p:nvPr/>
        </p:nvSpPr>
        <p:spPr>
          <a:xfrm>
            <a:off x="0" y="2558007"/>
            <a:ext cx="18288000" cy="5695200"/>
          </a:xfrm>
          <a:prstGeom prst="rect">
            <a:avLst/>
          </a:prstGeom>
          <a:noFill/>
          <a:ln>
            <a:noFill/>
          </a:ln>
        </p:spPr>
        <p:txBody>
          <a:bodyPr anchorCtr="0" anchor="t" bIns="0" lIns="0" spcFirstLastPara="1" rIns="0" wrap="square" tIns="0">
            <a:spAutoFit/>
          </a:bodyPr>
          <a:lstStyle/>
          <a:p>
            <a:pPr indent="0" lvl="0" marL="0" marR="0" rtl="0" algn="ctr">
              <a:lnSpc>
                <a:spcPct val="74000"/>
              </a:lnSpc>
              <a:spcBef>
                <a:spcPts val="0"/>
              </a:spcBef>
              <a:spcAft>
                <a:spcPts val="0"/>
              </a:spcAft>
              <a:buNone/>
            </a:pPr>
            <a:r>
              <a:rPr b="1" i="0" lang="en-US" sz="25000" u="none" cap="none" strike="noStrike">
                <a:solidFill>
                  <a:srgbClr val="EEDDAC"/>
                </a:solidFill>
                <a:latin typeface="Arial"/>
                <a:ea typeface="Arial"/>
                <a:cs typeface="Arial"/>
                <a:sym typeface="Arial"/>
              </a:rPr>
              <a:t>CONTENT STRATEGY</a:t>
            </a:r>
            <a:endParaRPr sz="25000"/>
          </a:p>
        </p:txBody>
      </p:sp>
      <p:sp>
        <p:nvSpPr>
          <p:cNvPr id="201" name="Google Shape;201;p11"/>
          <p:cNvSpPr/>
          <p:nvPr/>
        </p:nvSpPr>
        <p:spPr>
          <a:xfrm>
            <a:off x="5560322" y="6482910"/>
            <a:ext cx="3891707" cy="4100458"/>
          </a:xfrm>
          <a:custGeom>
            <a:rect b="b" l="l" r="r" t="t"/>
            <a:pathLst>
              <a:path extrusionOk="0" h="4100458" w="3891707">
                <a:moveTo>
                  <a:pt x="0" y="0"/>
                </a:moveTo>
                <a:lnTo>
                  <a:pt x="3891708" y="0"/>
                </a:lnTo>
                <a:lnTo>
                  <a:pt x="3891708" y="4100458"/>
                </a:lnTo>
                <a:lnTo>
                  <a:pt x="0" y="4100458"/>
                </a:lnTo>
                <a:lnTo>
                  <a:pt x="0" y="0"/>
                </a:lnTo>
                <a:close/>
              </a:path>
            </a:pathLst>
          </a:custGeom>
          <a:blipFill rotWithShape="1">
            <a:blip r:embed="rId3">
              <a:alphaModFix/>
            </a:blip>
            <a:stretch>
              <a:fillRect b="0" l="0" r="0" t="0"/>
            </a:stretch>
          </a:blipFill>
          <a:ln>
            <a:noFill/>
          </a:ln>
        </p:spPr>
      </p:sp>
      <p:sp>
        <p:nvSpPr>
          <p:cNvPr id="202" name="Google Shape;202;p11"/>
          <p:cNvSpPr/>
          <p:nvPr/>
        </p:nvSpPr>
        <p:spPr>
          <a:xfrm>
            <a:off x="9452030" y="-575132"/>
            <a:ext cx="4532257" cy="4532257"/>
          </a:xfrm>
          <a:custGeom>
            <a:rect b="b" l="l" r="r" t="t"/>
            <a:pathLst>
              <a:path extrusionOk="0" h="4532257" w="4532257">
                <a:moveTo>
                  <a:pt x="0" y="0"/>
                </a:moveTo>
                <a:lnTo>
                  <a:pt x="4532257" y="0"/>
                </a:lnTo>
                <a:lnTo>
                  <a:pt x="4532257" y="4532257"/>
                </a:lnTo>
                <a:lnTo>
                  <a:pt x="0" y="453225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2"/>
          <p:cNvSpPr txBox="1"/>
          <p:nvPr/>
        </p:nvSpPr>
        <p:spPr>
          <a:xfrm>
            <a:off x="1028700" y="3207322"/>
            <a:ext cx="16117883" cy="1189355"/>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0" i="0" lang="en-US" sz="2299" u="none" cap="none" strike="noStrike">
                <a:solidFill>
                  <a:srgbClr val="000000"/>
                </a:solidFill>
                <a:latin typeface="Open Sans Light"/>
                <a:ea typeface="Open Sans Light"/>
                <a:cs typeface="Open Sans Light"/>
                <a:sym typeface="Open Sans Light"/>
              </a:rPr>
              <a:t>Increase brand awareness among local Vietnamese customers (middle to upper-middle class office workers aged 25-50) while maintaining engagement with loyal customers. The focus is on showcasing authenticity, fun vibes, educating locals on Spanish cuisine and the unique tapas experience.</a:t>
            </a:r>
            <a:endParaRPr/>
          </a:p>
        </p:txBody>
      </p:sp>
      <p:sp>
        <p:nvSpPr>
          <p:cNvPr id="208" name="Google Shape;208;p12"/>
          <p:cNvSpPr txBox="1"/>
          <p:nvPr/>
        </p:nvSpPr>
        <p:spPr>
          <a:xfrm>
            <a:off x="5029991" y="1239581"/>
            <a:ext cx="8115300" cy="1054989"/>
          </a:xfrm>
          <a:prstGeom prst="rect">
            <a:avLst/>
          </a:prstGeom>
          <a:noFill/>
          <a:ln>
            <a:noFill/>
          </a:ln>
        </p:spPr>
        <p:txBody>
          <a:bodyPr anchorCtr="0" anchor="t" bIns="0" lIns="0" spcFirstLastPara="1" rIns="0" wrap="square" tIns="0">
            <a:spAutoFit/>
          </a:bodyPr>
          <a:lstStyle/>
          <a:p>
            <a:pPr indent="0" lvl="0" marL="0" marR="0" rtl="0" algn="ctr">
              <a:lnSpc>
                <a:spcPct val="111001"/>
              </a:lnSpc>
              <a:spcBef>
                <a:spcPts val="0"/>
              </a:spcBef>
              <a:spcAft>
                <a:spcPts val="0"/>
              </a:spcAft>
              <a:buNone/>
            </a:pPr>
            <a:r>
              <a:rPr b="0" i="0" lang="en-US" sz="7299" u="none" cap="none" strike="noStrike">
                <a:solidFill>
                  <a:srgbClr val="000000"/>
                </a:solidFill>
                <a:latin typeface="DM Serif Display"/>
                <a:ea typeface="DM Serif Display"/>
                <a:cs typeface="DM Serif Display"/>
                <a:sym typeface="DM Serif Display"/>
              </a:rPr>
              <a:t>Target Audiance</a:t>
            </a:r>
            <a:endParaRPr/>
          </a:p>
        </p:txBody>
      </p:sp>
      <p:cxnSp>
        <p:nvCxnSpPr>
          <p:cNvPr id="209" name="Google Shape;209;p12"/>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cxnSp>
        <p:nvCxnSpPr>
          <p:cNvPr id="210" name="Google Shape;210;p12"/>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211" name="Google Shape;211;p12"/>
          <p:cNvCxnSpPr/>
          <p:nvPr/>
        </p:nvCxnSpPr>
        <p:spPr>
          <a:xfrm rot="-5400000">
            <a:off x="12744841" y="1724213"/>
            <a:ext cx="1400551" cy="0"/>
          </a:xfrm>
          <a:prstGeom prst="straightConnector1">
            <a:avLst/>
          </a:prstGeom>
          <a:noFill/>
          <a:ln cap="rnd" cmpd="sng" w="9525">
            <a:solidFill>
              <a:srgbClr val="000000"/>
            </a:solidFill>
            <a:prstDash val="solid"/>
            <a:round/>
            <a:headEnd len="sm" w="sm" type="none"/>
            <a:tailEnd len="sm" w="sm" type="none"/>
          </a:ln>
        </p:spPr>
      </p:cxnSp>
      <p:cxnSp>
        <p:nvCxnSpPr>
          <p:cNvPr id="212" name="Google Shape;212;p12"/>
          <p:cNvCxnSpPr/>
          <p:nvPr/>
        </p:nvCxnSpPr>
        <p:spPr>
          <a:xfrm rot="-5400000">
            <a:off x="4032263" y="1733738"/>
            <a:ext cx="1400551" cy="0"/>
          </a:xfrm>
          <a:prstGeom prst="straightConnector1">
            <a:avLst/>
          </a:prstGeom>
          <a:noFill/>
          <a:ln cap="rnd" cmpd="sng" w="9525">
            <a:solidFill>
              <a:srgbClr val="000000"/>
            </a:solidFill>
            <a:prstDash val="solid"/>
            <a:round/>
            <a:headEnd len="sm" w="sm" type="none"/>
            <a:tailEnd len="sm" w="sm" type="none"/>
          </a:ln>
        </p:spPr>
      </p:cxnSp>
      <p:sp>
        <p:nvSpPr>
          <p:cNvPr id="213" name="Google Shape;213;p12"/>
          <p:cNvSpPr txBox="1"/>
          <p:nvPr/>
        </p:nvSpPr>
        <p:spPr>
          <a:xfrm>
            <a:off x="1028700" y="2664884"/>
            <a:ext cx="16117800" cy="456600"/>
          </a:xfrm>
          <a:prstGeom prst="rect">
            <a:avLst/>
          </a:prstGeom>
          <a:noFill/>
          <a:ln>
            <a:noFill/>
          </a:ln>
        </p:spPr>
        <p:txBody>
          <a:bodyPr anchorCtr="0" anchor="t" bIns="0" lIns="0" spcFirstLastPara="1" rIns="0" wrap="square" tIns="0">
            <a:spAutoFit/>
          </a:bodyPr>
          <a:lstStyle/>
          <a:p>
            <a:pPr indent="0" lvl="0" marL="0" marR="0" rtl="0" algn="ctr">
              <a:lnSpc>
                <a:spcPct val="139977"/>
              </a:lnSpc>
              <a:spcBef>
                <a:spcPts val="0"/>
              </a:spcBef>
              <a:spcAft>
                <a:spcPts val="0"/>
              </a:spcAft>
              <a:buNone/>
            </a:pPr>
            <a:r>
              <a:rPr b="0" i="0" lang="en-US" sz="2644" u="none" cap="none" strike="noStrike">
                <a:solidFill>
                  <a:srgbClr val="000000"/>
                </a:solidFill>
                <a:latin typeface="DM Serif Display"/>
                <a:ea typeface="DM Serif Display"/>
                <a:cs typeface="DM Serif Display"/>
                <a:sym typeface="DM Serif Display"/>
              </a:rPr>
              <a:t>Objective</a:t>
            </a:r>
            <a:endParaRPr/>
          </a:p>
        </p:txBody>
      </p:sp>
      <p:sp>
        <p:nvSpPr>
          <p:cNvPr id="214" name="Google Shape;214;p12"/>
          <p:cNvSpPr txBox="1"/>
          <p:nvPr/>
        </p:nvSpPr>
        <p:spPr>
          <a:xfrm>
            <a:off x="1028700" y="4472877"/>
            <a:ext cx="16117800" cy="407100"/>
          </a:xfrm>
          <a:prstGeom prst="rect">
            <a:avLst/>
          </a:prstGeom>
          <a:noFill/>
          <a:ln>
            <a:noFill/>
          </a:ln>
        </p:spPr>
        <p:txBody>
          <a:bodyPr anchorCtr="0" anchor="t" bIns="0" lIns="0" spcFirstLastPara="1" rIns="0" wrap="square" tIns="0">
            <a:spAutoFit/>
          </a:bodyPr>
          <a:lstStyle/>
          <a:p>
            <a:pPr indent="0" lvl="0" marL="0" marR="0" rtl="0" algn="ctr">
              <a:lnSpc>
                <a:spcPct val="139977"/>
              </a:lnSpc>
              <a:spcBef>
                <a:spcPts val="0"/>
              </a:spcBef>
              <a:spcAft>
                <a:spcPts val="0"/>
              </a:spcAft>
              <a:buNone/>
            </a:pPr>
            <a:r>
              <a:rPr b="0" i="0" lang="en-US" sz="2644" u="none" cap="none" strike="noStrike">
                <a:solidFill>
                  <a:srgbClr val="000000"/>
                </a:solidFill>
                <a:latin typeface="DM Serif Display"/>
                <a:ea typeface="DM Serif Display"/>
                <a:cs typeface="DM Serif Display"/>
                <a:sym typeface="DM Serif Display"/>
              </a:rPr>
              <a:t>Target Audience </a:t>
            </a:r>
            <a:endParaRPr/>
          </a:p>
        </p:txBody>
      </p:sp>
      <p:sp>
        <p:nvSpPr>
          <p:cNvPr id="215" name="Google Shape;215;p12"/>
          <p:cNvSpPr txBox="1"/>
          <p:nvPr/>
        </p:nvSpPr>
        <p:spPr>
          <a:xfrm>
            <a:off x="1028700" y="5024839"/>
            <a:ext cx="16117800" cy="53625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1899" u="none" cap="none" strike="noStrike">
                <a:solidFill>
                  <a:srgbClr val="000000"/>
                </a:solidFill>
                <a:latin typeface="Open Sans"/>
                <a:ea typeface="Open Sans"/>
                <a:cs typeface="Open Sans"/>
                <a:sym typeface="Open Sans"/>
              </a:rPr>
              <a:t>IDemographics</a:t>
            </a:r>
            <a:r>
              <a:rPr b="0" i="0" lang="en-US" sz="1899" u="none" cap="none" strike="noStrike">
                <a:solidFill>
                  <a:srgbClr val="000000"/>
                </a:solidFill>
                <a:latin typeface="Open Sans Light"/>
                <a:ea typeface="Open Sans Light"/>
                <a:cs typeface="Open Sans Light"/>
                <a:sym typeface="Open Sans Light"/>
              </a:rPr>
              <a:t>:</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Age: 25-50 years old</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Location: Ho Chi Minh City, Vietnam</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Income: Middle to upper-middle class (willing to spend on quality dining and drinks)</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Occupation: Office workers, professionals, Business workers, travelers</a:t>
            </a:r>
            <a:endParaRPr sz="1100"/>
          </a:p>
          <a:p>
            <a:pPr indent="0" lvl="0" marL="0" marR="0" rtl="0" algn="l">
              <a:lnSpc>
                <a:spcPct val="140018"/>
              </a:lnSpc>
              <a:spcBef>
                <a:spcPts val="0"/>
              </a:spcBef>
              <a:spcAft>
                <a:spcPts val="0"/>
              </a:spcAft>
              <a:buNone/>
            </a:pPr>
            <a:r>
              <a:rPr b="1" i="0" lang="en-US" sz="1899" u="none" cap="none" strike="noStrike">
                <a:solidFill>
                  <a:srgbClr val="000000"/>
                </a:solidFill>
                <a:latin typeface="Open Sans"/>
                <a:ea typeface="Open Sans"/>
                <a:cs typeface="Open Sans"/>
                <a:sym typeface="Open Sans"/>
              </a:rPr>
              <a:t>Psychographics:</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Enjoy dining out and socializing with friends.</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Interested in authentic international cuisines.</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Appreciate a vibrant and fun atmosphere.</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Value quality over quantity and are willing to pay for a unique dining experience.</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Curious about new cultures and dining experiences.</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Enjoy quality drinks </a:t>
            </a:r>
            <a:endParaRPr sz="1100"/>
          </a:p>
          <a:p>
            <a:pPr indent="-207645" lvl="1" marL="453390" marR="0" rtl="0" algn="l">
              <a:lnSpc>
                <a:spcPct val="140000"/>
              </a:lnSpc>
              <a:spcBef>
                <a:spcPts val="0"/>
              </a:spcBef>
              <a:spcAft>
                <a:spcPts val="0"/>
              </a:spcAft>
              <a:buClr>
                <a:srgbClr val="000000"/>
              </a:buClr>
              <a:buSzPts val="1800"/>
              <a:buFont typeface="Arial"/>
              <a:buChar char="•"/>
            </a:pPr>
            <a:r>
              <a:rPr b="0" i="0" lang="en-US" sz="1800" u="none" cap="none" strike="noStrike">
                <a:solidFill>
                  <a:srgbClr val="000000"/>
                </a:solidFill>
                <a:latin typeface="Open Sans Light"/>
                <a:ea typeface="Open Sans Light"/>
                <a:cs typeface="Open Sans Light"/>
                <a:sym typeface="Open Sans Light"/>
              </a:rPr>
              <a:t>Enjoy luxurious food</a:t>
            </a:r>
            <a:endParaRPr sz="1100"/>
          </a:p>
          <a:p>
            <a:pPr indent="0" lvl="0" marL="0" marR="0" rtl="0" algn="l">
              <a:lnSpc>
                <a:spcPct val="140000"/>
              </a:lnSpc>
              <a:spcBef>
                <a:spcPts val="0"/>
              </a:spcBef>
              <a:spcAft>
                <a:spcPts val="0"/>
              </a:spcAft>
              <a:buNone/>
            </a:pPr>
            <a:r>
              <a:t/>
            </a:r>
            <a:endParaRPr b="0" i="0" sz="1800" u="none" cap="none" strike="noStrike">
              <a:solidFill>
                <a:srgbClr val="000000"/>
              </a:solidFill>
              <a:latin typeface="Open Sans Light"/>
              <a:ea typeface="Open Sans Light"/>
              <a:cs typeface="Open Sans Light"/>
              <a:sym typeface="Open Sans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3"/>
          <p:cNvSpPr txBox="1"/>
          <p:nvPr/>
        </p:nvSpPr>
        <p:spPr>
          <a:xfrm>
            <a:off x="1028700" y="3371009"/>
            <a:ext cx="16117883" cy="1470660"/>
          </a:xfrm>
          <a:prstGeom prst="rect">
            <a:avLst/>
          </a:prstGeom>
          <a:noFill/>
          <a:ln>
            <a:noFill/>
          </a:ln>
        </p:spPr>
        <p:txBody>
          <a:bodyPr anchorCtr="0" anchor="t" bIns="0" lIns="0" spcFirstLastPara="1" rIns="0" wrap="square" tIns="0">
            <a:spAutoFit/>
          </a:bodyPr>
          <a:lstStyle/>
          <a:p>
            <a:pPr indent="-226695" lvl="1" marL="453390" marR="0" rtl="0" algn="l">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Tapas 101:</a:t>
            </a:r>
            <a:r>
              <a:rPr b="0" i="0" lang="en-US" sz="2100" u="none" cap="none" strike="noStrike">
                <a:solidFill>
                  <a:srgbClr val="000000"/>
                </a:solidFill>
                <a:latin typeface="Open Sans Light"/>
                <a:ea typeface="Open Sans Light"/>
                <a:cs typeface="Open Sans Light"/>
                <a:sym typeface="Open Sans Light"/>
              </a:rPr>
              <a:t> Explain the culture of Spanish tapas and how to enjoy them. Use Vietnamese captions and subtitles for videos.</a:t>
            </a:r>
            <a:endParaRPr/>
          </a:p>
          <a:p>
            <a:pPr indent="-226695" lvl="1" marL="453390" marR="0" rtl="0" algn="l">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Dish Spotlights: </a:t>
            </a:r>
            <a:r>
              <a:rPr b="0" i="0" lang="en-US" sz="2100" u="none" cap="none" strike="noStrike">
                <a:solidFill>
                  <a:srgbClr val="000000"/>
                </a:solidFill>
                <a:latin typeface="Open Sans Light"/>
                <a:ea typeface="Open Sans Light"/>
                <a:cs typeface="Open Sans Light"/>
                <a:sym typeface="Open Sans Light"/>
              </a:rPr>
              <a:t>Highlight key Spanish dishes and menu dive. Include Vietnamese descriptions.</a:t>
            </a:r>
            <a:endParaRPr/>
          </a:p>
          <a:p>
            <a:pPr indent="-226695" lvl="1" marL="453390" marR="0" rtl="0" algn="l">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Spanish Drinking Culture:</a:t>
            </a:r>
            <a:r>
              <a:rPr b="0" i="0" lang="en-US" sz="2100" u="none" cap="none" strike="noStrike">
                <a:solidFill>
                  <a:srgbClr val="000000"/>
                </a:solidFill>
                <a:latin typeface="Open Sans Light"/>
                <a:ea typeface="Open Sans Light"/>
                <a:cs typeface="Open Sans Light"/>
                <a:sym typeface="Open Sans Light"/>
              </a:rPr>
              <a:t> Showcase traditional Spanish drinks like sangria, cava, or vermouth, explaining how they pair with tapas and why they are a must-try. Focus on food and drinks pairing. </a:t>
            </a:r>
            <a:endParaRPr/>
          </a:p>
        </p:txBody>
      </p:sp>
      <p:sp>
        <p:nvSpPr>
          <p:cNvPr id="221" name="Google Shape;221;p13"/>
          <p:cNvSpPr txBox="1"/>
          <p:nvPr/>
        </p:nvSpPr>
        <p:spPr>
          <a:xfrm>
            <a:off x="1028700" y="2809521"/>
            <a:ext cx="16117883" cy="456713"/>
          </a:xfrm>
          <a:prstGeom prst="rect">
            <a:avLst/>
          </a:prstGeom>
          <a:noFill/>
          <a:ln>
            <a:noFill/>
          </a:ln>
        </p:spPr>
        <p:txBody>
          <a:bodyPr anchorCtr="0" anchor="t" bIns="0" lIns="0" spcFirstLastPara="1" rIns="0" wrap="square" tIns="0">
            <a:spAutoFit/>
          </a:bodyPr>
          <a:lstStyle/>
          <a:p>
            <a:pPr indent="0" lvl="0" marL="0" marR="0" rtl="0" algn="ctr">
              <a:lnSpc>
                <a:spcPct val="139977"/>
              </a:lnSpc>
              <a:spcBef>
                <a:spcPts val="0"/>
              </a:spcBef>
              <a:spcAft>
                <a:spcPts val="0"/>
              </a:spcAft>
              <a:buNone/>
            </a:pPr>
            <a:r>
              <a:rPr b="0" i="0" lang="en-US" sz="2644" u="none" cap="none" strike="noStrike">
                <a:solidFill>
                  <a:srgbClr val="000000"/>
                </a:solidFill>
                <a:latin typeface="DM Serif Display"/>
                <a:ea typeface="DM Serif Display"/>
                <a:cs typeface="DM Serif Display"/>
                <a:sym typeface="DM Serif Display"/>
              </a:rPr>
              <a:t>A. Educational Content:</a:t>
            </a:r>
            <a:endParaRPr/>
          </a:p>
        </p:txBody>
      </p:sp>
      <p:cxnSp>
        <p:nvCxnSpPr>
          <p:cNvPr id="222" name="Google Shape;222;p13"/>
          <p:cNvCxnSpPr/>
          <p:nvPr/>
        </p:nvCxnSpPr>
        <p:spPr>
          <a:xfrm>
            <a:off x="1028700" y="9258300"/>
            <a:ext cx="16117883" cy="0"/>
          </a:xfrm>
          <a:prstGeom prst="straightConnector1">
            <a:avLst/>
          </a:prstGeom>
          <a:noFill/>
          <a:ln cap="rnd" cmpd="sng" w="9525">
            <a:solidFill>
              <a:srgbClr val="000000"/>
            </a:solidFill>
            <a:prstDash val="solid"/>
            <a:round/>
            <a:headEnd len="sm" w="sm" type="none"/>
            <a:tailEnd len="sm" w="sm" type="none"/>
          </a:ln>
        </p:spPr>
      </p:cxnSp>
      <p:sp>
        <p:nvSpPr>
          <p:cNvPr id="223" name="Google Shape;223;p13"/>
          <p:cNvSpPr txBox="1"/>
          <p:nvPr/>
        </p:nvSpPr>
        <p:spPr>
          <a:xfrm>
            <a:off x="5029991" y="1239581"/>
            <a:ext cx="8115300" cy="973074"/>
          </a:xfrm>
          <a:prstGeom prst="rect">
            <a:avLst/>
          </a:prstGeom>
          <a:noFill/>
          <a:ln>
            <a:noFill/>
          </a:ln>
        </p:spPr>
        <p:txBody>
          <a:bodyPr anchorCtr="0" anchor="t" bIns="0" lIns="0" spcFirstLastPara="1" rIns="0" wrap="square" tIns="0">
            <a:spAutoFit/>
          </a:bodyPr>
          <a:lstStyle/>
          <a:p>
            <a:pPr indent="0" lvl="0" marL="0" marR="0" rtl="0" algn="ctr">
              <a:lnSpc>
                <a:spcPct val="111000"/>
              </a:lnSpc>
              <a:spcBef>
                <a:spcPts val="0"/>
              </a:spcBef>
              <a:spcAft>
                <a:spcPts val="0"/>
              </a:spcAft>
              <a:buNone/>
            </a:pPr>
            <a:r>
              <a:rPr b="0" i="0" lang="en-US" sz="6800" u="none" cap="none" strike="noStrike">
                <a:solidFill>
                  <a:srgbClr val="000000"/>
                </a:solidFill>
                <a:latin typeface="DM Serif Display"/>
                <a:ea typeface="DM Serif Display"/>
                <a:cs typeface="DM Serif Display"/>
                <a:sym typeface="DM Serif Display"/>
              </a:rPr>
              <a:t>Key Content Themes</a:t>
            </a:r>
            <a:endParaRPr/>
          </a:p>
        </p:txBody>
      </p:sp>
      <p:cxnSp>
        <p:nvCxnSpPr>
          <p:cNvPr id="224" name="Google Shape;224;p13"/>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cxnSp>
        <p:nvCxnSpPr>
          <p:cNvPr id="225" name="Google Shape;225;p13"/>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226" name="Google Shape;226;p13"/>
          <p:cNvCxnSpPr/>
          <p:nvPr/>
        </p:nvCxnSpPr>
        <p:spPr>
          <a:xfrm rot="-5400000">
            <a:off x="12744841" y="1724213"/>
            <a:ext cx="1400551" cy="0"/>
          </a:xfrm>
          <a:prstGeom prst="straightConnector1">
            <a:avLst/>
          </a:prstGeom>
          <a:noFill/>
          <a:ln cap="rnd" cmpd="sng" w="9525">
            <a:solidFill>
              <a:srgbClr val="000000"/>
            </a:solidFill>
            <a:prstDash val="solid"/>
            <a:round/>
            <a:headEnd len="sm" w="sm" type="none"/>
            <a:tailEnd len="sm" w="sm" type="none"/>
          </a:ln>
        </p:spPr>
      </p:cxnSp>
      <p:cxnSp>
        <p:nvCxnSpPr>
          <p:cNvPr id="227" name="Google Shape;227;p13"/>
          <p:cNvCxnSpPr/>
          <p:nvPr/>
        </p:nvCxnSpPr>
        <p:spPr>
          <a:xfrm rot="-5400000">
            <a:off x="4032263" y="1733738"/>
            <a:ext cx="1400551" cy="0"/>
          </a:xfrm>
          <a:prstGeom prst="straightConnector1">
            <a:avLst/>
          </a:prstGeom>
          <a:noFill/>
          <a:ln cap="rnd" cmpd="sng" w="9525">
            <a:solidFill>
              <a:srgbClr val="000000"/>
            </a:solidFill>
            <a:prstDash val="solid"/>
            <a:round/>
            <a:headEnd len="sm" w="sm" type="none"/>
            <a:tailEnd len="sm" w="sm" type="none"/>
          </a:ln>
        </p:spPr>
      </p:cxnSp>
      <p:sp>
        <p:nvSpPr>
          <p:cNvPr id="228" name="Google Shape;228;p13"/>
          <p:cNvSpPr txBox="1"/>
          <p:nvPr/>
        </p:nvSpPr>
        <p:spPr>
          <a:xfrm>
            <a:off x="1141417" y="5565081"/>
            <a:ext cx="16117883" cy="2585085"/>
          </a:xfrm>
          <a:prstGeom prst="rect">
            <a:avLst/>
          </a:prstGeom>
          <a:noFill/>
          <a:ln>
            <a:noFill/>
          </a:ln>
        </p:spPr>
        <p:txBody>
          <a:bodyPr anchorCtr="0" anchor="t" bIns="0" lIns="0" spcFirstLastPara="1" rIns="0" wrap="square" tIns="0">
            <a:spAutoFit/>
          </a:bodyPr>
          <a:lstStyle/>
          <a:p>
            <a:pPr indent="-226695" lvl="1" marL="453390" marR="0" rtl="0" algn="l">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Behind-the-Scenes: </a:t>
            </a:r>
            <a:r>
              <a:rPr b="0" i="0" lang="en-US" sz="2100" u="none" cap="none" strike="noStrike">
                <a:solidFill>
                  <a:srgbClr val="000000"/>
                </a:solidFill>
                <a:latin typeface="Open Sans"/>
                <a:ea typeface="Open Sans"/>
                <a:cs typeface="Open Sans"/>
                <a:sym typeface="Open Sans"/>
              </a:rPr>
              <a:t>Show chefs preparing tapas or bartenders crafting drinks, with commentary in both English and Vietnamese.</a:t>
            </a:r>
            <a:endParaRPr/>
          </a:p>
          <a:p>
            <a:pPr indent="-226695" lvl="1" marL="453390" marR="0" rtl="0" algn="l">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Customer Spotlights: </a:t>
            </a:r>
            <a:r>
              <a:rPr b="0" i="0" lang="en-US" sz="2100" u="none" cap="none" strike="noStrike">
                <a:solidFill>
                  <a:srgbClr val="000000"/>
                </a:solidFill>
                <a:latin typeface="Open Sans"/>
                <a:ea typeface="Open Sans"/>
                <a:cs typeface="Open Sans"/>
                <a:sym typeface="Open Sans"/>
              </a:rPr>
              <a:t>Feature loyal customers, especially locals, sharing their experiences.</a:t>
            </a:r>
            <a:endParaRPr/>
          </a:p>
          <a:p>
            <a:pPr indent="-226695" lvl="1" marL="453390" marR="0" rtl="0" algn="l">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Interactive Posts: </a:t>
            </a:r>
            <a:r>
              <a:rPr b="0" i="0" lang="en-US" sz="2100" u="none" cap="none" strike="noStrike">
                <a:solidFill>
                  <a:srgbClr val="000000"/>
                </a:solidFill>
                <a:latin typeface="Open Sans"/>
                <a:ea typeface="Open Sans"/>
                <a:cs typeface="Open Sans"/>
                <a:sym typeface="Open Sans"/>
              </a:rPr>
              <a:t>Create polls like "What’s your favorite tapas dish?" or quizzes like "Which Spanish drink suits your personality?"</a:t>
            </a:r>
            <a:endParaRPr/>
          </a:p>
          <a:p>
            <a:pPr indent="-226695" lvl="1" marL="453390" marR="0" rtl="0" algn="l">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Spanish Culture: </a:t>
            </a:r>
            <a:r>
              <a:rPr b="0" i="0" lang="en-US" sz="2100" u="none" cap="none" strike="noStrike">
                <a:solidFill>
                  <a:srgbClr val="000000"/>
                </a:solidFill>
                <a:latin typeface="Open Sans"/>
                <a:ea typeface="Open Sans"/>
                <a:cs typeface="Open Sans"/>
                <a:sym typeface="Open Sans"/>
              </a:rPr>
              <a:t>Highlight Spanish traditions, music, or festivals, tying them to Vietnamese values like gatherings and celebrations. Showcase the similarity in the cultures.</a:t>
            </a:r>
            <a:endParaRPr/>
          </a:p>
        </p:txBody>
      </p:sp>
      <p:sp>
        <p:nvSpPr>
          <p:cNvPr id="229" name="Google Shape;229;p13"/>
          <p:cNvSpPr txBox="1"/>
          <p:nvPr/>
        </p:nvSpPr>
        <p:spPr>
          <a:xfrm>
            <a:off x="1141417" y="5003594"/>
            <a:ext cx="16117883" cy="456713"/>
          </a:xfrm>
          <a:prstGeom prst="rect">
            <a:avLst/>
          </a:prstGeom>
          <a:noFill/>
          <a:ln>
            <a:noFill/>
          </a:ln>
        </p:spPr>
        <p:txBody>
          <a:bodyPr anchorCtr="0" anchor="t" bIns="0" lIns="0" spcFirstLastPara="1" rIns="0" wrap="square" tIns="0">
            <a:spAutoFit/>
          </a:bodyPr>
          <a:lstStyle/>
          <a:p>
            <a:pPr indent="0" lvl="0" marL="0" marR="0" rtl="0" algn="ctr">
              <a:lnSpc>
                <a:spcPct val="139977"/>
              </a:lnSpc>
              <a:spcBef>
                <a:spcPts val="0"/>
              </a:spcBef>
              <a:spcAft>
                <a:spcPts val="0"/>
              </a:spcAft>
              <a:buNone/>
            </a:pPr>
            <a:r>
              <a:rPr b="0" i="0" lang="en-US" sz="2644" u="none" cap="none" strike="noStrike">
                <a:solidFill>
                  <a:srgbClr val="000000"/>
                </a:solidFill>
                <a:latin typeface="DM Serif Display"/>
                <a:ea typeface="DM Serif Display"/>
                <a:cs typeface="DM Serif Display"/>
                <a:sym typeface="DM Serif Display"/>
              </a:rPr>
              <a:t>B. Fun and Engaging Content: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cxnSp>
        <p:nvCxnSpPr>
          <p:cNvPr id="234" name="Google Shape;234;p14"/>
          <p:cNvCxnSpPr/>
          <p:nvPr/>
        </p:nvCxnSpPr>
        <p:spPr>
          <a:xfrm>
            <a:off x="1028700" y="9258300"/>
            <a:ext cx="16117883" cy="0"/>
          </a:xfrm>
          <a:prstGeom prst="straightConnector1">
            <a:avLst/>
          </a:prstGeom>
          <a:noFill/>
          <a:ln cap="rnd" cmpd="sng" w="9525">
            <a:solidFill>
              <a:srgbClr val="000000"/>
            </a:solidFill>
            <a:prstDash val="solid"/>
            <a:round/>
            <a:headEnd len="sm" w="sm" type="none"/>
            <a:tailEnd len="sm" w="sm" type="none"/>
          </a:ln>
        </p:spPr>
      </p:cxnSp>
      <p:sp>
        <p:nvSpPr>
          <p:cNvPr id="235" name="Google Shape;235;p14"/>
          <p:cNvSpPr txBox="1"/>
          <p:nvPr/>
        </p:nvSpPr>
        <p:spPr>
          <a:xfrm>
            <a:off x="5029991" y="1239581"/>
            <a:ext cx="8115300" cy="973074"/>
          </a:xfrm>
          <a:prstGeom prst="rect">
            <a:avLst/>
          </a:prstGeom>
          <a:noFill/>
          <a:ln>
            <a:noFill/>
          </a:ln>
        </p:spPr>
        <p:txBody>
          <a:bodyPr anchorCtr="0" anchor="t" bIns="0" lIns="0" spcFirstLastPara="1" rIns="0" wrap="square" tIns="0">
            <a:spAutoFit/>
          </a:bodyPr>
          <a:lstStyle/>
          <a:p>
            <a:pPr indent="0" lvl="0" marL="0" marR="0" rtl="0" algn="ctr">
              <a:lnSpc>
                <a:spcPct val="111000"/>
              </a:lnSpc>
              <a:spcBef>
                <a:spcPts val="0"/>
              </a:spcBef>
              <a:spcAft>
                <a:spcPts val="0"/>
              </a:spcAft>
              <a:buNone/>
            </a:pPr>
            <a:r>
              <a:rPr b="0" i="0" lang="en-US" sz="6800" u="none" cap="none" strike="noStrike">
                <a:solidFill>
                  <a:srgbClr val="000000"/>
                </a:solidFill>
                <a:latin typeface="DM Serif Display"/>
                <a:ea typeface="DM Serif Display"/>
                <a:cs typeface="DM Serif Display"/>
                <a:sym typeface="DM Serif Display"/>
              </a:rPr>
              <a:t>Key Content Themes</a:t>
            </a:r>
            <a:endParaRPr/>
          </a:p>
        </p:txBody>
      </p:sp>
      <p:cxnSp>
        <p:nvCxnSpPr>
          <p:cNvPr id="236" name="Google Shape;236;p14"/>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cxnSp>
        <p:nvCxnSpPr>
          <p:cNvPr id="237" name="Google Shape;237;p14"/>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238" name="Google Shape;238;p14"/>
          <p:cNvCxnSpPr/>
          <p:nvPr/>
        </p:nvCxnSpPr>
        <p:spPr>
          <a:xfrm rot="-5400000">
            <a:off x="12744841" y="1724213"/>
            <a:ext cx="1400551" cy="0"/>
          </a:xfrm>
          <a:prstGeom prst="straightConnector1">
            <a:avLst/>
          </a:prstGeom>
          <a:noFill/>
          <a:ln cap="rnd" cmpd="sng" w="9525">
            <a:solidFill>
              <a:srgbClr val="000000"/>
            </a:solidFill>
            <a:prstDash val="solid"/>
            <a:round/>
            <a:headEnd len="sm" w="sm" type="none"/>
            <a:tailEnd len="sm" w="sm" type="none"/>
          </a:ln>
        </p:spPr>
      </p:cxnSp>
      <p:cxnSp>
        <p:nvCxnSpPr>
          <p:cNvPr id="239" name="Google Shape;239;p14"/>
          <p:cNvCxnSpPr/>
          <p:nvPr/>
        </p:nvCxnSpPr>
        <p:spPr>
          <a:xfrm rot="-5400000">
            <a:off x="4032263" y="1733738"/>
            <a:ext cx="1400551" cy="0"/>
          </a:xfrm>
          <a:prstGeom prst="straightConnector1">
            <a:avLst/>
          </a:prstGeom>
          <a:noFill/>
          <a:ln cap="rnd" cmpd="sng" w="9525">
            <a:solidFill>
              <a:srgbClr val="000000"/>
            </a:solidFill>
            <a:prstDash val="solid"/>
            <a:round/>
            <a:headEnd len="sm" w="sm" type="none"/>
            <a:tailEnd len="sm" w="sm" type="none"/>
          </a:ln>
        </p:spPr>
      </p:cxnSp>
      <p:sp>
        <p:nvSpPr>
          <p:cNvPr id="240" name="Google Shape;240;p14"/>
          <p:cNvSpPr txBox="1"/>
          <p:nvPr/>
        </p:nvSpPr>
        <p:spPr>
          <a:xfrm>
            <a:off x="1141417" y="3162189"/>
            <a:ext cx="16117883" cy="727710"/>
          </a:xfrm>
          <a:prstGeom prst="rect">
            <a:avLst/>
          </a:prstGeom>
          <a:noFill/>
          <a:ln>
            <a:noFill/>
          </a:ln>
        </p:spPr>
        <p:txBody>
          <a:bodyPr anchorCtr="0" anchor="t" bIns="0" lIns="0" spcFirstLastPara="1" rIns="0" wrap="square" tIns="0">
            <a:spAutoFit/>
          </a:bodyPr>
          <a:lstStyle/>
          <a:p>
            <a:pPr indent="-226695" lvl="1" marL="453390" marR="0" rtl="0" algn="l">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Emphasize </a:t>
            </a:r>
            <a:r>
              <a:rPr b="0" i="0" lang="en-US" sz="2100" u="none" cap="none" strike="noStrike">
                <a:solidFill>
                  <a:srgbClr val="000000"/>
                </a:solidFill>
                <a:latin typeface="Open Sans"/>
                <a:ea typeface="Open Sans"/>
                <a:cs typeface="Open Sans"/>
                <a:sym typeface="Open Sans"/>
              </a:rPr>
              <a:t>the use of authentic Spanish ingredients and traditional preparation methods.</a:t>
            </a:r>
            <a:endParaRPr/>
          </a:p>
          <a:p>
            <a:pPr indent="-226695" lvl="1" marL="453390" marR="0" rtl="0" algn="l">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Share the story </a:t>
            </a:r>
            <a:r>
              <a:rPr b="0" i="0" lang="en-US" sz="2100" u="none" cap="none" strike="noStrike">
                <a:solidFill>
                  <a:srgbClr val="000000"/>
                </a:solidFill>
                <a:latin typeface="Open Sans"/>
                <a:ea typeface="Open Sans"/>
                <a:cs typeface="Open Sans"/>
                <a:sym typeface="Open Sans"/>
              </a:rPr>
              <a:t>of the restaurant’s journey, emphasizing its commitment to bringing a slice of Spain to Vietnam.</a:t>
            </a:r>
            <a:endParaRPr/>
          </a:p>
        </p:txBody>
      </p:sp>
      <p:sp>
        <p:nvSpPr>
          <p:cNvPr id="241" name="Google Shape;241;p14"/>
          <p:cNvSpPr txBox="1"/>
          <p:nvPr/>
        </p:nvSpPr>
        <p:spPr>
          <a:xfrm>
            <a:off x="1141417" y="2600701"/>
            <a:ext cx="16117883" cy="456713"/>
          </a:xfrm>
          <a:prstGeom prst="rect">
            <a:avLst/>
          </a:prstGeom>
          <a:noFill/>
          <a:ln>
            <a:noFill/>
          </a:ln>
        </p:spPr>
        <p:txBody>
          <a:bodyPr anchorCtr="0" anchor="t" bIns="0" lIns="0" spcFirstLastPara="1" rIns="0" wrap="square" tIns="0">
            <a:spAutoFit/>
          </a:bodyPr>
          <a:lstStyle/>
          <a:p>
            <a:pPr indent="0" lvl="0" marL="0" marR="0" rtl="0" algn="ctr">
              <a:lnSpc>
                <a:spcPct val="139977"/>
              </a:lnSpc>
              <a:spcBef>
                <a:spcPts val="0"/>
              </a:spcBef>
              <a:spcAft>
                <a:spcPts val="0"/>
              </a:spcAft>
              <a:buNone/>
            </a:pPr>
            <a:r>
              <a:rPr b="0" i="0" lang="en-US" sz="2644" u="none" cap="none" strike="noStrike">
                <a:solidFill>
                  <a:srgbClr val="000000"/>
                </a:solidFill>
                <a:latin typeface="DM Serif Display"/>
                <a:ea typeface="DM Serif Display"/>
                <a:cs typeface="DM Serif Display"/>
                <a:sym typeface="DM Serif Display"/>
              </a:rPr>
              <a:t>C. Authenticity and Brand Story:</a:t>
            </a:r>
            <a:endParaRPr/>
          </a:p>
        </p:txBody>
      </p:sp>
      <p:sp>
        <p:nvSpPr>
          <p:cNvPr id="242" name="Google Shape;242;p14"/>
          <p:cNvSpPr txBox="1"/>
          <p:nvPr/>
        </p:nvSpPr>
        <p:spPr>
          <a:xfrm>
            <a:off x="1141417" y="4841912"/>
            <a:ext cx="16117883" cy="356235"/>
          </a:xfrm>
          <a:prstGeom prst="rect">
            <a:avLst/>
          </a:prstGeom>
          <a:noFill/>
          <a:ln>
            <a:noFill/>
          </a:ln>
        </p:spPr>
        <p:txBody>
          <a:bodyPr anchorCtr="0" anchor="t" bIns="0" lIns="0" spcFirstLastPara="1" rIns="0" wrap="square" tIns="0">
            <a:spAutoFit/>
          </a:bodyPr>
          <a:lstStyle/>
          <a:p>
            <a:pPr indent="-226695" lvl="1" marL="453390" marR="0" rtl="0" algn="ctr">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Two special menus a month (Every two weeks)</a:t>
            </a:r>
            <a:endParaRPr/>
          </a:p>
        </p:txBody>
      </p:sp>
      <p:sp>
        <p:nvSpPr>
          <p:cNvPr id="243" name="Google Shape;243;p14"/>
          <p:cNvSpPr txBox="1"/>
          <p:nvPr/>
        </p:nvSpPr>
        <p:spPr>
          <a:xfrm>
            <a:off x="1141417" y="4280424"/>
            <a:ext cx="16117883" cy="456713"/>
          </a:xfrm>
          <a:prstGeom prst="rect">
            <a:avLst/>
          </a:prstGeom>
          <a:noFill/>
          <a:ln>
            <a:noFill/>
          </a:ln>
        </p:spPr>
        <p:txBody>
          <a:bodyPr anchorCtr="0" anchor="t" bIns="0" lIns="0" spcFirstLastPara="1" rIns="0" wrap="square" tIns="0">
            <a:spAutoFit/>
          </a:bodyPr>
          <a:lstStyle/>
          <a:p>
            <a:pPr indent="0" lvl="0" marL="0" marR="0" rtl="0" algn="ctr">
              <a:lnSpc>
                <a:spcPct val="139977"/>
              </a:lnSpc>
              <a:spcBef>
                <a:spcPts val="0"/>
              </a:spcBef>
              <a:spcAft>
                <a:spcPts val="0"/>
              </a:spcAft>
              <a:buNone/>
            </a:pPr>
            <a:r>
              <a:rPr b="0" i="0" lang="en-US" sz="2644" u="none" cap="none" strike="noStrike">
                <a:solidFill>
                  <a:srgbClr val="000000"/>
                </a:solidFill>
                <a:latin typeface="DM Serif Display"/>
                <a:ea typeface="DM Serif Display"/>
                <a:cs typeface="DM Serif Display"/>
                <a:sym typeface="DM Serif Display"/>
              </a:rPr>
              <a:t>D. Promotions and Offers:</a:t>
            </a:r>
            <a:endParaRPr/>
          </a:p>
        </p:txBody>
      </p:sp>
      <p:sp>
        <p:nvSpPr>
          <p:cNvPr id="244" name="Google Shape;244;p14"/>
          <p:cNvSpPr txBox="1"/>
          <p:nvPr/>
        </p:nvSpPr>
        <p:spPr>
          <a:xfrm>
            <a:off x="1141417" y="6150159"/>
            <a:ext cx="16117883" cy="356235"/>
          </a:xfrm>
          <a:prstGeom prst="rect">
            <a:avLst/>
          </a:prstGeom>
          <a:noFill/>
          <a:ln>
            <a:noFill/>
          </a:ln>
        </p:spPr>
        <p:txBody>
          <a:bodyPr anchorCtr="0" anchor="t" bIns="0" lIns="0" spcFirstLastPara="1" rIns="0" wrap="square" tIns="0">
            <a:spAutoFit/>
          </a:bodyPr>
          <a:lstStyle/>
          <a:p>
            <a:pPr indent="-226695" lvl="1" marL="453390" marR="0" rtl="0" algn="ctr">
              <a:lnSpc>
                <a:spcPct val="140000"/>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One or two events monthly.</a:t>
            </a:r>
            <a:endParaRPr/>
          </a:p>
        </p:txBody>
      </p:sp>
      <p:sp>
        <p:nvSpPr>
          <p:cNvPr id="245" name="Google Shape;245;p14"/>
          <p:cNvSpPr txBox="1"/>
          <p:nvPr/>
        </p:nvSpPr>
        <p:spPr>
          <a:xfrm>
            <a:off x="1141417" y="5588672"/>
            <a:ext cx="16117883" cy="456713"/>
          </a:xfrm>
          <a:prstGeom prst="rect">
            <a:avLst/>
          </a:prstGeom>
          <a:noFill/>
          <a:ln>
            <a:noFill/>
          </a:ln>
        </p:spPr>
        <p:txBody>
          <a:bodyPr anchorCtr="0" anchor="t" bIns="0" lIns="0" spcFirstLastPara="1" rIns="0" wrap="square" tIns="0">
            <a:spAutoFit/>
          </a:bodyPr>
          <a:lstStyle/>
          <a:p>
            <a:pPr indent="0" lvl="0" marL="0" marR="0" rtl="0" algn="ctr">
              <a:lnSpc>
                <a:spcPct val="139977"/>
              </a:lnSpc>
              <a:spcBef>
                <a:spcPts val="0"/>
              </a:spcBef>
              <a:spcAft>
                <a:spcPts val="0"/>
              </a:spcAft>
              <a:buNone/>
            </a:pPr>
            <a:r>
              <a:rPr b="0" i="0" lang="en-US" sz="2644" u="none" cap="none" strike="noStrike">
                <a:solidFill>
                  <a:srgbClr val="000000"/>
                </a:solidFill>
                <a:latin typeface="DM Serif Display"/>
                <a:ea typeface="DM Serif Display"/>
                <a:cs typeface="DM Serif Display"/>
                <a:sym typeface="DM Serif Display"/>
              </a:rPr>
              <a:t>E. Event Highlights: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cxnSp>
        <p:nvCxnSpPr>
          <p:cNvPr id="250" name="Google Shape;250;p15"/>
          <p:cNvCxnSpPr/>
          <p:nvPr/>
        </p:nvCxnSpPr>
        <p:spPr>
          <a:xfrm>
            <a:off x="1028700" y="9258300"/>
            <a:ext cx="16117883" cy="0"/>
          </a:xfrm>
          <a:prstGeom prst="straightConnector1">
            <a:avLst/>
          </a:prstGeom>
          <a:noFill/>
          <a:ln cap="rnd" cmpd="sng" w="9525">
            <a:solidFill>
              <a:srgbClr val="000000"/>
            </a:solidFill>
            <a:prstDash val="solid"/>
            <a:round/>
            <a:headEnd len="sm" w="sm" type="none"/>
            <a:tailEnd len="sm" w="sm" type="none"/>
          </a:ln>
        </p:spPr>
      </p:cxnSp>
      <p:sp>
        <p:nvSpPr>
          <p:cNvPr id="251" name="Google Shape;251;p15"/>
          <p:cNvSpPr txBox="1"/>
          <p:nvPr/>
        </p:nvSpPr>
        <p:spPr>
          <a:xfrm>
            <a:off x="5029991" y="1239581"/>
            <a:ext cx="8115300" cy="973074"/>
          </a:xfrm>
          <a:prstGeom prst="rect">
            <a:avLst/>
          </a:prstGeom>
          <a:noFill/>
          <a:ln>
            <a:noFill/>
          </a:ln>
        </p:spPr>
        <p:txBody>
          <a:bodyPr anchorCtr="0" anchor="t" bIns="0" lIns="0" spcFirstLastPara="1" rIns="0" wrap="square" tIns="0">
            <a:spAutoFit/>
          </a:bodyPr>
          <a:lstStyle/>
          <a:p>
            <a:pPr indent="0" lvl="0" marL="0" marR="0" rtl="0" algn="ctr">
              <a:lnSpc>
                <a:spcPct val="111000"/>
              </a:lnSpc>
              <a:spcBef>
                <a:spcPts val="0"/>
              </a:spcBef>
              <a:spcAft>
                <a:spcPts val="0"/>
              </a:spcAft>
              <a:buNone/>
            </a:pPr>
            <a:r>
              <a:rPr b="0" i="0" lang="en-US" sz="6800" u="none" cap="none" strike="noStrike">
                <a:solidFill>
                  <a:srgbClr val="000000"/>
                </a:solidFill>
                <a:latin typeface="DM Serif Display"/>
                <a:ea typeface="DM Serif Display"/>
                <a:cs typeface="DM Serif Display"/>
                <a:sym typeface="DM Serif Display"/>
              </a:rPr>
              <a:t> Content Types</a:t>
            </a:r>
            <a:endParaRPr/>
          </a:p>
        </p:txBody>
      </p:sp>
      <p:cxnSp>
        <p:nvCxnSpPr>
          <p:cNvPr id="252" name="Google Shape;252;p15"/>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cxnSp>
        <p:nvCxnSpPr>
          <p:cNvPr id="253" name="Google Shape;253;p15"/>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254" name="Google Shape;254;p15"/>
          <p:cNvCxnSpPr/>
          <p:nvPr/>
        </p:nvCxnSpPr>
        <p:spPr>
          <a:xfrm rot="-5400000">
            <a:off x="12744841" y="1724213"/>
            <a:ext cx="1400551" cy="0"/>
          </a:xfrm>
          <a:prstGeom prst="straightConnector1">
            <a:avLst/>
          </a:prstGeom>
          <a:noFill/>
          <a:ln cap="rnd" cmpd="sng" w="9525">
            <a:solidFill>
              <a:srgbClr val="000000"/>
            </a:solidFill>
            <a:prstDash val="solid"/>
            <a:round/>
            <a:headEnd len="sm" w="sm" type="none"/>
            <a:tailEnd len="sm" w="sm" type="none"/>
          </a:ln>
        </p:spPr>
      </p:cxnSp>
      <p:cxnSp>
        <p:nvCxnSpPr>
          <p:cNvPr id="255" name="Google Shape;255;p15"/>
          <p:cNvCxnSpPr/>
          <p:nvPr/>
        </p:nvCxnSpPr>
        <p:spPr>
          <a:xfrm rot="-5400000">
            <a:off x="4032263" y="1733738"/>
            <a:ext cx="1400551" cy="0"/>
          </a:xfrm>
          <a:prstGeom prst="straightConnector1">
            <a:avLst/>
          </a:prstGeom>
          <a:noFill/>
          <a:ln cap="rnd" cmpd="sng" w="9525">
            <a:solidFill>
              <a:srgbClr val="000000"/>
            </a:solidFill>
            <a:prstDash val="solid"/>
            <a:round/>
            <a:headEnd len="sm" w="sm" type="none"/>
            <a:tailEnd len="sm" w="sm" type="none"/>
          </a:ln>
        </p:spPr>
      </p:cxnSp>
      <p:sp>
        <p:nvSpPr>
          <p:cNvPr id="256" name="Google Shape;256;p15"/>
          <p:cNvSpPr txBox="1"/>
          <p:nvPr/>
        </p:nvSpPr>
        <p:spPr>
          <a:xfrm>
            <a:off x="1028700" y="3733895"/>
            <a:ext cx="16061524" cy="4172137"/>
          </a:xfrm>
          <a:prstGeom prst="rect">
            <a:avLst/>
          </a:prstGeom>
          <a:noFill/>
          <a:ln>
            <a:noFill/>
          </a:ln>
        </p:spPr>
        <p:txBody>
          <a:bodyPr anchorCtr="0" anchor="t" bIns="0" lIns="0" spcFirstLastPara="1" rIns="0" wrap="square" tIns="0">
            <a:spAutoFit/>
          </a:bodyPr>
          <a:lstStyle/>
          <a:p>
            <a:pPr indent="-323055" lvl="1" marL="646110" marR="0" rtl="0" algn="l">
              <a:lnSpc>
                <a:spcPct val="140006"/>
              </a:lnSpc>
              <a:spcBef>
                <a:spcPts val="0"/>
              </a:spcBef>
              <a:spcAft>
                <a:spcPts val="0"/>
              </a:spcAft>
              <a:buClr>
                <a:srgbClr val="000000"/>
              </a:buClr>
              <a:buSzPts val="2992"/>
              <a:buFont typeface="Arial"/>
              <a:buChar char="•"/>
            </a:pPr>
            <a:r>
              <a:rPr b="1" i="0" lang="en-US" sz="2992" u="none" cap="none" strike="noStrike">
                <a:solidFill>
                  <a:srgbClr val="000000"/>
                </a:solidFill>
                <a:latin typeface="Open Sans"/>
                <a:ea typeface="Open Sans"/>
                <a:cs typeface="Open Sans"/>
                <a:sym typeface="Open Sans"/>
              </a:rPr>
              <a:t>1. Visual Posts (Instagram/Facebook)</a:t>
            </a:r>
            <a:endParaRPr/>
          </a:p>
          <a:p>
            <a:pPr indent="-323055" lvl="1" marL="646110" marR="0" rtl="0" algn="l">
              <a:lnSpc>
                <a:spcPct val="140006"/>
              </a:lnSpc>
              <a:spcBef>
                <a:spcPts val="0"/>
              </a:spcBef>
              <a:spcAft>
                <a:spcPts val="0"/>
              </a:spcAft>
              <a:buClr>
                <a:srgbClr val="000000"/>
              </a:buClr>
              <a:buSzPts val="2992"/>
              <a:buFont typeface="Arial"/>
              <a:buChar char="•"/>
            </a:pPr>
            <a:r>
              <a:rPr b="1" i="0" lang="en-US" sz="2992" u="none" cap="none" strike="noStrike">
                <a:solidFill>
                  <a:srgbClr val="000000"/>
                </a:solidFill>
                <a:latin typeface="Open Sans"/>
                <a:ea typeface="Open Sans"/>
                <a:cs typeface="Open Sans"/>
                <a:sym typeface="Open Sans"/>
              </a:rPr>
              <a:t>2. Stories:</a:t>
            </a:r>
            <a:endParaRPr/>
          </a:p>
          <a:p>
            <a:pPr indent="0" lvl="0" marL="0" marR="0" rtl="0" algn="l">
              <a:lnSpc>
                <a:spcPct val="140006"/>
              </a:lnSpc>
              <a:spcBef>
                <a:spcPts val="0"/>
              </a:spcBef>
              <a:spcAft>
                <a:spcPts val="0"/>
              </a:spcAft>
              <a:buNone/>
            </a:pPr>
            <a:r>
              <a:rPr b="0" i="0" lang="en-US" sz="2992" u="none" cap="none" strike="noStrike">
                <a:solidFill>
                  <a:srgbClr val="000000"/>
                </a:solidFill>
                <a:latin typeface="Open Sans"/>
                <a:ea typeface="Open Sans"/>
                <a:cs typeface="Open Sans"/>
                <a:sym typeface="Open Sans"/>
              </a:rPr>
              <a:t>Real-time updates (e.g., today’s specials, live events).</a:t>
            </a:r>
            <a:endParaRPr/>
          </a:p>
          <a:p>
            <a:pPr indent="0" lvl="0" marL="0" marR="0" rtl="0" algn="l">
              <a:lnSpc>
                <a:spcPct val="140006"/>
              </a:lnSpc>
              <a:spcBef>
                <a:spcPts val="0"/>
              </a:spcBef>
              <a:spcAft>
                <a:spcPts val="0"/>
              </a:spcAft>
              <a:buNone/>
            </a:pPr>
            <a:r>
              <a:rPr b="0" i="0" lang="en-US" sz="2992" u="none" cap="none" strike="noStrike">
                <a:solidFill>
                  <a:srgbClr val="000000"/>
                </a:solidFill>
                <a:latin typeface="Open Sans"/>
                <a:ea typeface="Open Sans"/>
                <a:cs typeface="Open Sans"/>
                <a:sym typeface="Open Sans"/>
              </a:rPr>
              <a:t>Polls, quizzes, and countdowns for upcoming events, in Vietnamese to increase engagement.</a:t>
            </a:r>
            <a:endParaRPr/>
          </a:p>
          <a:p>
            <a:pPr indent="-323055" lvl="1" marL="646110" marR="0" rtl="0" algn="l">
              <a:lnSpc>
                <a:spcPct val="140006"/>
              </a:lnSpc>
              <a:spcBef>
                <a:spcPts val="0"/>
              </a:spcBef>
              <a:spcAft>
                <a:spcPts val="0"/>
              </a:spcAft>
              <a:buClr>
                <a:srgbClr val="000000"/>
              </a:buClr>
              <a:buSzPts val="2992"/>
              <a:buFont typeface="Arial"/>
              <a:buChar char="•"/>
            </a:pPr>
            <a:r>
              <a:rPr b="1" i="0" lang="en-US" sz="2992" u="none" cap="none" strike="noStrike">
                <a:solidFill>
                  <a:srgbClr val="000000"/>
                </a:solidFill>
                <a:latin typeface="Open Sans"/>
                <a:ea typeface="Open Sans"/>
                <a:cs typeface="Open Sans"/>
                <a:sym typeface="Open Sans"/>
              </a:rPr>
              <a:t>3. Long-Form Content</a:t>
            </a:r>
            <a:endParaRPr/>
          </a:p>
          <a:p>
            <a:pPr indent="0" lvl="0" marL="0" marR="0" rtl="0" algn="l">
              <a:lnSpc>
                <a:spcPct val="140006"/>
              </a:lnSpc>
              <a:spcBef>
                <a:spcPts val="0"/>
              </a:spcBef>
              <a:spcAft>
                <a:spcPts val="0"/>
              </a:spcAft>
              <a:buNone/>
            </a:pPr>
            <a:r>
              <a:rPr b="0" i="0" lang="en-US" sz="2992" u="none" cap="none" strike="noStrike">
                <a:solidFill>
                  <a:srgbClr val="000000"/>
                </a:solidFill>
                <a:latin typeface="Open Sans"/>
                <a:ea typeface="Open Sans"/>
                <a:cs typeface="Open Sans"/>
                <a:sym typeface="Open Sans"/>
              </a:rPr>
              <a:t>Blog-style posts on Facebook about Spanish food culture and how it compares to Vietnamese dining experiences.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6"/>
          <p:cNvSpPr txBox="1"/>
          <p:nvPr/>
        </p:nvSpPr>
        <p:spPr>
          <a:xfrm>
            <a:off x="5029991" y="1239581"/>
            <a:ext cx="8115300" cy="973074"/>
          </a:xfrm>
          <a:prstGeom prst="rect">
            <a:avLst/>
          </a:prstGeom>
          <a:noFill/>
          <a:ln>
            <a:noFill/>
          </a:ln>
        </p:spPr>
        <p:txBody>
          <a:bodyPr anchorCtr="0" anchor="t" bIns="0" lIns="0" spcFirstLastPara="1" rIns="0" wrap="square" tIns="0">
            <a:spAutoFit/>
          </a:bodyPr>
          <a:lstStyle/>
          <a:p>
            <a:pPr indent="0" lvl="0" marL="0" marR="0" rtl="0" algn="ctr">
              <a:lnSpc>
                <a:spcPct val="111000"/>
              </a:lnSpc>
              <a:spcBef>
                <a:spcPts val="0"/>
              </a:spcBef>
              <a:spcAft>
                <a:spcPts val="0"/>
              </a:spcAft>
              <a:buNone/>
            </a:pPr>
            <a:r>
              <a:rPr b="0" i="0" lang="en-US" sz="6800" u="none" cap="none" strike="noStrike">
                <a:solidFill>
                  <a:srgbClr val="000000"/>
                </a:solidFill>
                <a:latin typeface="DM Serif Display"/>
                <a:ea typeface="DM Serif Display"/>
                <a:cs typeface="DM Serif Display"/>
                <a:sym typeface="DM Serif Display"/>
              </a:rPr>
              <a:t>Ads.</a:t>
            </a:r>
            <a:endParaRPr/>
          </a:p>
        </p:txBody>
      </p:sp>
      <p:cxnSp>
        <p:nvCxnSpPr>
          <p:cNvPr id="262" name="Google Shape;262;p16"/>
          <p:cNvCxnSpPr/>
          <p:nvPr/>
        </p:nvCxnSpPr>
        <p:spPr>
          <a:xfrm>
            <a:off x="1028700" y="2429251"/>
            <a:ext cx="16117883" cy="0"/>
          </a:xfrm>
          <a:prstGeom prst="straightConnector1">
            <a:avLst/>
          </a:prstGeom>
          <a:noFill/>
          <a:ln cap="rnd" cmpd="sng" w="9525">
            <a:solidFill>
              <a:srgbClr val="000000"/>
            </a:solidFill>
            <a:prstDash val="solid"/>
            <a:round/>
            <a:headEnd len="sm" w="sm" type="none"/>
            <a:tailEnd len="sm" w="sm" type="none"/>
          </a:ln>
        </p:spPr>
      </p:cxnSp>
      <p:cxnSp>
        <p:nvCxnSpPr>
          <p:cNvPr id="263" name="Google Shape;263;p16"/>
          <p:cNvCxnSpPr/>
          <p:nvPr/>
        </p:nvCxnSpPr>
        <p:spPr>
          <a:xfrm>
            <a:off x="1028700" y="1028700"/>
            <a:ext cx="16117883" cy="0"/>
          </a:xfrm>
          <a:prstGeom prst="straightConnector1">
            <a:avLst/>
          </a:prstGeom>
          <a:noFill/>
          <a:ln cap="rnd" cmpd="sng" w="9525">
            <a:solidFill>
              <a:srgbClr val="000000"/>
            </a:solidFill>
            <a:prstDash val="solid"/>
            <a:round/>
            <a:headEnd len="sm" w="sm" type="none"/>
            <a:tailEnd len="sm" w="sm" type="none"/>
          </a:ln>
        </p:spPr>
      </p:cxnSp>
      <p:cxnSp>
        <p:nvCxnSpPr>
          <p:cNvPr id="264" name="Google Shape;264;p16"/>
          <p:cNvCxnSpPr/>
          <p:nvPr/>
        </p:nvCxnSpPr>
        <p:spPr>
          <a:xfrm rot="-5400000">
            <a:off x="12744841" y="1724213"/>
            <a:ext cx="1400551" cy="0"/>
          </a:xfrm>
          <a:prstGeom prst="straightConnector1">
            <a:avLst/>
          </a:prstGeom>
          <a:noFill/>
          <a:ln cap="rnd" cmpd="sng" w="9525">
            <a:solidFill>
              <a:srgbClr val="000000"/>
            </a:solidFill>
            <a:prstDash val="solid"/>
            <a:round/>
            <a:headEnd len="sm" w="sm" type="none"/>
            <a:tailEnd len="sm" w="sm" type="none"/>
          </a:ln>
        </p:spPr>
      </p:cxnSp>
      <p:cxnSp>
        <p:nvCxnSpPr>
          <p:cNvPr id="265" name="Google Shape;265;p16"/>
          <p:cNvCxnSpPr/>
          <p:nvPr/>
        </p:nvCxnSpPr>
        <p:spPr>
          <a:xfrm rot="-5400000">
            <a:off x="4032263" y="1733738"/>
            <a:ext cx="1400551" cy="0"/>
          </a:xfrm>
          <a:prstGeom prst="straightConnector1">
            <a:avLst/>
          </a:prstGeom>
          <a:noFill/>
          <a:ln cap="rnd" cmpd="sng" w="9525">
            <a:solidFill>
              <a:srgbClr val="000000"/>
            </a:solidFill>
            <a:prstDash val="solid"/>
            <a:round/>
            <a:headEnd len="sm" w="sm" type="none"/>
            <a:tailEnd len="sm" w="sm" type="none"/>
          </a:ln>
        </p:spPr>
      </p:cxnSp>
      <p:sp>
        <p:nvSpPr>
          <p:cNvPr id="266" name="Google Shape;266;p16"/>
          <p:cNvSpPr txBox="1"/>
          <p:nvPr/>
        </p:nvSpPr>
        <p:spPr>
          <a:xfrm>
            <a:off x="1028700" y="2784885"/>
            <a:ext cx="16061524" cy="2491740"/>
          </a:xfrm>
          <a:prstGeom prst="rect">
            <a:avLst/>
          </a:prstGeom>
          <a:noFill/>
          <a:ln>
            <a:noFill/>
          </a:ln>
        </p:spPr>
        <p:txBody>
          <a:bodyPr anchorCtr="0" anchor="t" bIns="0" lIns="0" spcFirstLastPara="1" rIns="0" wrap="square" tIns="0">
            <a:spAutoFit/>
          </a:bodyPr>
          <a:lstStyle/>
          <a:p>
            <a:pPr indent="-259079" lvl="1" marL="518160" marR="0" rtl="0" algn="l">
              <a:lnSpc>
                <a:spcPct val="139958"/>
              </a:lnSpc>
              <a:spcBef>
                <a:spcPts val="0"/>
              </a:spcBef>
              <a:spcAft>
                <a:spcPts val="0"/>
              </a:spcAft>
              <a:buClr>
                <a:srgbClr val="000000"/>
              </a:buClr>
              <a:buSzPts val="2400"/>
              <a:buFont typeface="Arial"/>
              <a:buChar char="•"/>
            </a:pPr>
            <a:r>
              <a:rPr b="0" i="0" lang="en-US" sz="2400" u="none" cap="none" strike="noStrike">
                <a:solidFill>
                  <a:srgbClr val="000000"/>
                </a:solidFill>
                <a:latin typeface="Open Sans"/>
                <a:ea typeface="Open Sans"/>
                <a:cs typeface="Open Sans"/>
                <a:sym typeface="Open Sans"/>
              </a:rPr>
              <a:t>Focus on visually appealing carousel ads or video ads showcasing vibrant dishes, with captions in Vietnamese.</a:t>
            </a:r>
            <a:endParaRPr/>
          </a:p>
          <a:p>
            <a:pPr indent="-259079" lvl="1" marL="518160" marR="0" rtl="0" algn="l">
              <a:lnSpc>
                <a:spcPct val="139958"/>
              </a:lnSpc>
              <a:spcBef>
                <a:spcPts val="0"/>
              </a:spcBef>
              <a:spcAft>
                <a:spcPts val="0"/>
              </a:spcAft>
              <a:buClr>
                <a:srgbClr val="000000"/>
              </a:buClr>
              <a:buSzPts val="2400"/>
              <a:buFont typeface="Arial"/>
              <a:buChar char="•"/>
            </a:pPr>
            <a:r>
              <a:rPr b="0" i="0" lang="en-US" sz="2400" u="none" cap="none" strike="noStrike">
                <a:solidFill>
                  <a:srgbClr val="000000"/>
                </a:solidFill>
                <a:latin typeface="Open Sans"/>
                <a:ea typeface="Open Sans"/>
                <a:cs typeface="Open Sans"/>
                <a:sym typeface="Open Sans"/>
              </a:rPr>
              <a:t>Include clear CTAs like "Book Your Table Now" or "Enjoy Tapas Like Never Before."</a:t>
            </a:r>
            <a:endParaRPr/>
          </a:p>
          <a:p>
            <a:pPr indent="-259079" lvl="1" marL="518160" marR="0" rtl="0" algn="l">
              <a:lnSpc>
                <a:spcPct val="139958"/>
              </a:lnSpc>
              <a:spcBef>
                <a:spcPts val="0"/>
              </a:spcBef>
              <a:spcAft>
                <a:spcPts val="0"/>
              </a:spcAft>
              <a:buClr>
                <a:srgbClr val="000000"/>
              </a:buClr>
              <a:buSzPts val="2400"/>
              <a:buFont typeface="Arial"/>
              <a:buChar char="•"/>
            </a:pPr>
            <a:r>
              <a:rPr b="0" i="0" lang="en-US" sz="2400" u="none" cap="none" strike="noStrike">
                <a:solidFill>
                  <a:srgbClr val="000000"/>
                </a:solidFill>
                <a:latin typeface="Open Sans"/>
                <a:ea typeface="Open Sans"/>
                <a:cs typeface="Open Sans"/>
                <a:sym typeface="Open Sans"/>
              </a:rPr>
              <a:t>Ads will run once a month for 7 days. Budget is 800,000 to 1,000,000</a:t>
            </a:r>
            <a:endParaRPr/>
          </a:p>
          <a:p>
            <a:pPr indent="-259079" lvl="1" marL="518160" marR="0" rtl="0" algn="l">
              <a:lnSpc>
                <a:spcPct val="139958"/>
              </a:lnSpc>
              <a:spcBef>
                <a:spcPts val="0"/>
              </a:spcBef>
              <a:spcAft>
                <a:spcPts val="0"/>
              </a:spcAft>
              <a:buClr>
                <a:srgbClr val="000000"/>
              </a:buClr>
              <a:buSzPts val="2400"/>
              <a:buFont typeface="Arial"/>
              <a:buChar char="•"/>
            </a:pPr>
            <a:r>
              <a:rPr b="0" i="0" lang="en-US" sz="2400" u="none" cap="none" strike="noStrike">
                <a:solidFill>
                  <a:srgbClr val="000000"/>
                </a:solidFill>
                <a:latin typeface="Open Sans"/>
                <a:ea typeface="Open Sans"/>
                <a:cs typeface="Open Sans"/>
                <a:sym typeface="Open Sans"/>
              </a:rPr>
              <a:t>Ads will run through Meta. </a:t>
            </a:r>
            <a:endParaRPr/>
          </a:p>
          <a:p>
            <a:pPr indent="0" lvl="0" marL="0" marR="0" rtl="0" algn="l">
              <a:lnSpc>
                <a:spcPct val="139958"/>
              </a:lnSpc>
              <a:spcBef>
                <a:spcPts val="0"/>
              </a:spcBef>
              <a:spcAft>
                <a:spcPts val="0"/>
              </a:spcAft>
              <a:buNone/>
            </a:pPr>
            <a:r>
              <a:t/>
            </a:r>
            <a:endParaRPr b="0" i="0" sz="2400" u="none" cap="none" strike="noStrike">
              <a:solidFill>
                <a:srgbClr val="000000"/>
              </a:solidFill>
              <a:latin typeface="Open Sans"/>
              <a:ea typeface="Open Sans"/>
              <a:cs typeface="Open Sans"/>
              <a:sym typeface="Open Sans"/>
            </a:endParaRPr>
          </a:p>
        </p:txBody>
      </p:sp>
      <p:sp>
        <p:nvSpPr>
          <p:cNvPr id="267" name="Google Shape;267;p16"/>
          <p:cNvSpPr txBox="1"/>
          <p:nvPr/>
        </p:nvSpPr>
        <p:spPr>
          <a:xfrm>
            <a:off x="7243525" y="5295675"/>
            <a:ext cx="3800950" cy="478626"/>
          </a:xfrm>
          <a:prstGeom prst="rect">
            <a:avLst/>
          </a:prstGeom>
          <a:noFill/>
          <a:ln>
            <a:noFill/>
          </a:ln>
        </p:spPr>
        <p:txBody>
          <a:bodyPr anchorCtr="0" anchor="t" bIns="0" lIns="0" spcFirstLastPara="1" rIns="0" wrap="square" tIns="0">
            <a:spAutoFit/>
          </a:bodyPr>
          <a:lstStyle/>
          <a:p>
            <a:pPr indent="0" lvl="0" marL="0" marR="0" rtl="0" algn="ctr">
              <a:lnSpc>
                <a:spcPct val="111022"/>
              </a:lnSpc>
              <a:spcBef>
                <a:spcPts val="0"/>
              </a:spcBef>
              <a:spcAft>
                <a:spcPts val="0"/>
              </a:spcAft>
              <a:buNone/>
            </a:pPr>
            <a:r>
              <a:rPr b="0" i="0" lang="en-US" sz="3266" u="none" cap="none" strike="noStrike">
                <a:solidFill>
                  <a:srgbClr val="000000"/>
                </a:solidFill>
                <a:latin typeface="DM Serif Display"/>
                <a:ea typeface="DM Serif Display"/>
                <a:cs typeface="DM Serif Display"/>
                <a:sym typeface="DM Serif Display"/>
              </a:rPr>
              <a:t>Advertising Strategy</a:t>
            </a:r>
            <a:endParaRPr/>
          </a:p>
        </p:txBody>
      </p:sp>
      <p:sp>
        <p:nvSpPr>
          <p:cNvPr id="268" name="Google Shape;268;p16"/>
          <p:cNvSpPr txBox="1"/>
          <p:nvPr/>
        </p:nvSpPr>
        <p:spPr>
          <a:xfrm>
            <a:off x="1028700" y="5955276"/>
            <a:ext cx="16061400" cy="4395000"/>
          </a:xfrm>
          <a:prstGeom prst="rect">
            <a:avLst/>
          </a:prstGeom>
          <a:noFill/>
          <a:ln>
            <a:noFill/>
          </a:ln>
        </p:spPr>
        <p:txBody>
          <a:bodyPr anchorCtr="0" anchor="t" bIns="0" lIns="0" spcFirstLastPara="1" rIns="0" wrap="square" tIns="0">
            <a:spAutoFit/>
          </a:bodyPr>
          <a:lstStyle/>
          <a:p>
            <a:pPr indent="-240029" lvl="1" marL="518160" marR="0" rtl="0" algn="l">
              <a:lnSpc>
                <a:spcPct val="139958"/>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A. Target Audience for Ads:</a:t>
            </a:r>
            <a:endParaRPr sz="1100"/>
          </a:p>
          <a:p>
            <a:pPr indent="0" lvl="0" marL="0" marR="0" rtl="0" algn="l">
              <a:lnSpc>
                <a:spcPct val="139958"/>
              </a:lnSpc>
              <a:spcBef>
                <a:spcPts val="0"/>
              </a:spcBef>
              <a:spcAft>
                <a:spcPts val="0"/>
              </a:spcAft>
              <a:buNone/>
            </a:pPr>
            <a:r>
              <a:rPr b="1" i="0" lang="en-US" sz="2100" u="none" cap="none" strike="noStrike">
                <a:solidFill>
                  <a:srgbClr val="000000"/>
                </a:solidFill>
                <a:latin typeface="Open Sans"/>
                <a:ea typeface="Open Sans"/>
                <a:cs typeface="Open Sans"/>
                <a:sym typeface="Open Sans"/>
              </a:rPr>
              <a:t>Location: </a:t>
            </a:r>
            <a:r>
              <a:rPr b="0" i="0" lang="en-US" sz="2100" u="none" cap="none" strike="noStrike">
                <a:solidFill>
                  <a:srgbClr val="000000"/>
                </a:solidFill>
                <a:latin typeface="Open Sans"/>
                <a:ea typeface="Open Sans"/>
                <a:cs typeface="Open Sans"/>
                <a:sym typeface="Open Sans"/>
              </a:rPr>
              <a:t>Ho Chi Minh City</a:t>
            </a:r>
            <a:endParaRPr sz="1100"/>
          </a:p>
          <a:p>
            <a:pPr indent="0" lvl="0" marL="0" marR="0" rtl="0" algn="l">
              <a:lnSpc>
                <a:spcPct val="139958"/>
              </a:lnSpc>
              <a:spcBef>
                <a:spcPts val="0"/>
              </a:spcBef>
              <a:spcAft>
                <a:spcPts val="0"/>
              </a:spcAft>
              <a:buNone/>
            </a:pPr>
            <a:r>
              <a:rPr b="1" i="0" lang="en-US" sz="2100" u="none" cap="none" strike="noStrike">
                <a:solidFill>
                  <a:srgbClr val="000000"/>
                </a:solidFill>
                <a:latin typeface="Open Sans"/>
                <a:ea typeface="Open Sans"/>
                <a:cs typeface="Open Sans"/>
                <a:sym typeface="Open Sans"/>
              </a:rPr>
              <a:t>Interests: </a:t>
            </a:r>
            <a:r>
              <a:rPr b="0" i="0" lang="en-US" sz="2100" u="none" cap="none" strike="noStrike">
                <a:solidFill>
                  <a:srgbClr val="000000"/>
                </a:solidFill>
                <a:latin typeface="Open Sans"/>
                <a:ea typeface="Open Sans"/>
                <a:cs typeface="Open Sans"/>
                <a:sym typeface="Open Sans"/>
              </a:rPr>
              <a:t>Spanish food, tapas, wine, dining out, nightlife, and international cuisines.</a:t>
            </a:r>
            <a:endParaRPr sz="1100"/>
          </a:p>
          <a:p>
            <a:pPr indent="0" lvl="0" marL="0" marR="0" rtl="0" algn="l">
              <a:lnSpc>
                <a:spcPct val="139958"/>
              </a:lnSpc>
              <a:spcBef>
                <a:spcPts val="0"/>
              </a:spcBef>
              <a:spcAft>
                <a:spcPts val="0"/>
              </a:spcAft>
              <a:buNone/>
            </a:pPr>
            <a:r>
              <a:rPr b="1" i="0" lang="en-US" sz="2100" u="none" cap="none" strike="noStrike">
                <a:solidFill>
                  <a:srgbClr val="000000"/>
                </a:solidFill>
                <a:latin typeface="Open Sans"/>
                <a:ea typeface="Open Sans"/>
                <a:cs typeface="Open Sans"/>
                <a:sym typeface="Open Sans"/>
              </a:rPr>
              <a:t>Demographics: </a:t>
            </a:r>
            <a:r>
              <a:rPr b="0" i="0" lang="en-US" sz="2100" u="none" cap="none" strike="noStrike">
                <a:solidFill>
                  <a:srgbClr val="000000"/>
                </a:solidFill>
                <a:latin typeface="Open Sans"/>
                <a:ea typeface="Open Sans"/>
                <a:cs typeface="Open Sans"/>
                <a:sym typeface="Open Sans"/>
              </a:rPr>
              <a:t>Ages 25-50, middle to upper-middle class.</a:t>
            </a:r>
            <a:endParaRPr sz="1100"/>
          </a:p>
          <a:p>
            <a:pPr indent="-240029" lvl="1" marL="518160" marR="0" rtl="0" algn="l">
              <a:lnSpc>
                <a:spcPct val="139958"/>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B. Types of Ads:</a:t>
            </a:r>
            <a:endParaRPr sz="1100"/>
          </a:p>
          <a:p>
            <a:pPr indent="0" lvl="0" marL="0" marR="0" rtl="0" algn="l">
              <a:lnSpc>
                <a:spcPct val="139958"/>
              </a:lnSpc>
              <a:spcBef>
                <a:spcPts val="0"/>
              </a:spcBef>
              <a:spcAft>
                <a:spcPts val="0"/>
              </a:spcAft>
              <a:buNone/>
            </a:pPr>
            <a:r>
              <a:rPr b="0" i="0" lang="en-US" sz="2100" u="none" cap="none" strike="noStrike">
                <a:solidFill>
                  <a:srgbClr val="000000"/>
                </a:solidFill>
                <a:latin typeface="Open Sans"/>
                <a:ea typeface="Open Sans"/>
                <a:cs typeface="Open Sans"/>
                <a:sym typeface="Open Sans"/>
              </a:rPr>
              <a:t>C</a:t>
            </a:r>
            <a:r>
              <a:rPr b="1" i="0" lang="en-US" sz="2100" u="none" cap="none" strike="noStrike">
                <a:solidFill>
                  <a:srgbClr val="000000"/>
                </a:solidFill>
                <a:latin typeface="Open Sans"/>
                <a:ea typeface="Open Sans"/>
                <a:cs typeface="Open Sans"/>
                <a:sym typeface="Open Sans"/>
              </a:rPr>
              <a:t>arousel Ads:</a:t>
            </a:r>
            <a:r>
              <a:rPr b="0" i="0" lang="en-US" sz="2100" u="none" cap="none" strike="noStrike">
                <a:solidFill>
                  <a:srgbClr val="000000"/>
                </a:solidFill>
                <a:latin typeface="Open Sans"/>
                <a:ea typeface="Open Sans"/>
                <a:cs typeface="Open Sans"/>
                <a:sym typeface="Open Sans"/>
              </a:rPr>
              <a:t> Showcase multiple dishes and drinks with vibrant visuals.</a:t>
            </a:r>
            <a:endParaRPr sz="1100"/>
          </a:p>
          <a:p>
            <a:pPr indent="0" lvl="0" marL="0" marR="0" rtl="0" algn="l">
              <a:lnSpc>
                <a:spcPct val="139958"/>
              </a:lnSpc>
              <a:spcBef>
                <a:spcPts val="0"/>
              </a:spcBef>
              <a:spcAft>
                <a:spcPts val="0"/>
              </a:spcAft>
              <a:buNone/>
            </a:pPr>
            <a:r>
              <a:rPr b="1" i="0" lang="en-US" sz="2100" u="none" cap="none" strike="noStrike">
                <a:solidFill>
                  <a:srgbClr val="000000"/>
                </a:solidFill>
                <a:latin typeface="Open Sans"/>
                <a:ea typeface="Open Sans"/>
                <a:cs typeface="Open Sans"/>
                <a:sym typeface="Open Sans"/>
              </a:rPr>
              <a:t>Video Ads: </a:t>
            </a:r>
            <a:r>
              <a:rPr b="0" i="0" lang="en-US" sz="2100" u="none" cap="none" strike="noStrike">
                <a:solidFill>
                  <a:srgbClr val="000000"/>
                </a:solidFill>
                <a:latin typeface="Open Sans"/>
                <a:ea typeface="Open Sans"/>
                <a:cs typeface="Open Sans"/>
                <a:sym typeface="Open Sans"/>
              </a:rPr>
              <a:t>Highlight the ambiance, live events, and food preparation.</a:t>
            </a:r>
            <a:endParaRPr sz="1100"/>
          </a:p>
          <a:p>
            <a:pPr indent="-240029" lvl="1" marL="518160" marR="0" rtl="0" algn="l">
              <a:lnSpc>
                <a:spcPct val="139958"/>
              </a:lnSpc>
              <a:spcBef>
                <a:spcPts val="0"/>
              </a:spcBef>
              <a:spcAft>
                <a:spcPts val="0"/>
              </a:spcAft>
              <a:buClr>
                <a:srgbClr val="000000"/>
              </a:buClr>
              <a:buSzPts val="2100"/>
              <a:buFont typeface="Arial"/>
              <a:buChar char="•"/>
            </a:pPr>
            <a:r>
              <a:rPr b="1" i="0" lang="en-US" sz="2100" u="none" cap="none" strike="noStrike">
                <a:solidFill>
                  <a:srgbClr val="000000"/>
                </a:solidFill>
                <a:latin typeface="Open Sans"/>
                <a:ea typeface="Open Sans"/>
                <a:cs typeface="Open Sans"/>
                <a:sym typeface="Open Sans"/>
              </a:rPr>
              <a:t>C. Budget Allocation:</a:t>
            </a:r>
            <a:endParaRPr sz="1100"/>
          </a:p>
          <a:p>
            <a:pPr indent="0" lvl="0" marL="0" marR="0" rtl="0" algn="l">
              <a:lnSpc>
                <a:spcPct val="139958"/>
              </a:lnSpc>
              <a:spcBef>
                <a:spcPts val="0"/>
              </a:spcBef>
              <a:spcAft>
                <a:spcPts val="0"/>
              </a:spcAft>
              <a:buNone/>
            </a:pPr>
            <a:r>
              <a:rPr b="0" i="0" lang="en-US" sz="2100" u="none" cap="none" strike="noStrike">
                <a:solidFill>
                  <a:srgbClr val="000000"/>
                </a:solidFill>
                <a:latin typeface="Open Sans"/>
                <a:ea typeface="Open Sans"/>
                <a:cs typeface="Open Sans"/>
                <a:sym typeface="Open Sans"/>
              </a:rPr>
              <a:t>100% to Instagram and Facebook ads (brand awareness).</a:t>
            </a:r>
            <a:endParaRPr sz="1100"/>
          </a:p>
          <a:p>
            <a:pPr indent="0" lvl="0" marL="0" marR="0" rtl="0" algn="l">
              <a:lnSpc>
                <a:spcPct val="139958"/>
              </a:lnSpc>
              <a:spcBef>
                <a:spcPts val="0"/>
              </a:spcBef>
              <a:spcAft>
                <a:spcPts val="0"/>
              </a:spcAft>
              <a:buNone/>
            </a:pPr>
            <a:r>
              <a:t/>
            </a:r>
            <a:endParaRPr b="0" i="0" sz="2100" u="none" cap="none" strike="noStrike">
              <a:solidFill>
                <a:srgbClr val="000000"/>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